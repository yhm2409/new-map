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0725912" cy="3840480"/>
          </a:xfrm>
          <a:prstGeom prst="round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01168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1">
                <a:solidFill>
                  <a:srgbClr val="DBE8FE"/>
                </a:solidFill>
                <a:latin typeface="에이투지체"/>
              </a:rPr>
              <a:t>L'AROME FINE DINING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2468880"/>
            <a:ext cx="9601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KIMM_오피스체_Bold"/>
              </a:rPr>
              <a:t>라롬 식당 예약 및 AI 상담 플랫폼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280160" y="3749039"/>
            <a:ext cx="31089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280160" y="402336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600" b="0">
                <a:solidFill>
                  <a:srgbClr val="DBE8FE"/>
                </a:solidFill>
                <a:latin typeface="에이투지체"/>
              </a:rPr>
              <a:t>식당 메뉴와 시간을 사전에 조율하는 예약 웹앱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4389120"/>
            <a:ext cx="9144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에이투지체"/>
              </a:rPr>
              <a:t>발표자: [이름]  ·  개발 프로젝트 완료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10725912" cy="77724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7315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에이투지체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011680"/>
            <a:ext cx="36576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91F28"/>
                </a:solidFill>
                <a:latin typeface="KIMM_오피스체_Bold"/>
              </a:rPr>
              <a:t>서비스 소개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2057400"/>
            <a:ext cx="54864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E5968"/>
                </a:solidFill>
                <a:latin typeface="에이투지체"/>
              </a:rPr>
              <a:t>식당 예약 플랫폼의 목적 및 필요성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97480"/>
            <a:ext cx="10725912" cy="77724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7315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에이투지체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80360"/>
            <a:ext cx="36576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91F28"/>
                </a:solidFill>
                <a:latin typeface="KIMM_오피스체_Bold"/>
              </a:rPr>
              <a:t>서비스 구현 범위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26080"/>
            <a:ext cx="54864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E5968"/>
                </a:solidFill>
                <a:latin typeface="에이투지체"/>
              </a:rPr>
              <a:t>Client, Server, AI 가용 범위 개괄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66160"/>
            <a:ext cx="10725912" cy="77724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749040"/>
            <a:ext cx="7315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에이투지체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49040"/>
            <a:ext cx="36576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91F28"/>
                </a:solidFill>
                <a:latin typeface="KIMM_오피스체_Bold"/>
              </a:rPr>
              <a:t>서비스 UI 및 레퍼런스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794760"/>
            <a:ext cx="54864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E5968"/>
                </a:solidFill>
                <a:latin typeface="에이투지체"/>
              </a:rPr>
              <a:t>TOSS 디자인 스타일 및 작업 프로세스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34840"/>
            <a:ext cx="10725912" cy="77724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617720"/>
            <a:ext cx="7315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에이투지체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617720"/>
            <a:ext cx="36576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91F28"/>
                </a:solidFill>
                <a:latin typeface="KIMM_오피스체_Bold"/>
              </a:rPr>
              <a:t>백엔드 및 DB 구성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663440"/>
            <a:ext cx="54864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E5968"/>
                </a:solidFill>
                <a:latin typeface="에이투지체"/>
              </a:rPr>
              <a:t>Next.js Route Handlers 및 DB ERD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303520"/>
            <a:ext cx="10725912" cy="77724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486400"/>
            <a:ext cx="7315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에이투지체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486400"/>
            <a:ext cx="36576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91F28"/>
                </a:solidFill>
                <a:latin typeface="KIMM_오피스체_Bold"/>
              </a:rPr>
              <a:t>서비스 이용 시연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5532120"/>
            <a:ext cx="54864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4E5968"/>
                </a:solidFill>
                <a:latin typeface="에이투지체"/>
              </a:rPr>
              <a:t>중복 예약 방지 및 AI 실시간 상담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1C60EF"/>
                </a:solidFill>
                <a:latin typeface="에이투지체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0"/>
            <a:ext cx="91440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200" b="1">
                <a:solidFill>
                  <a:srgbClr val="191F28"/>
                </a:solidFill>
                <a:latin typeface="KIMM_오피스체_Bold"/>
              </a:rPr>
              <a:t>서비스 소개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4114800"/>
            <a:ext cx="274320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SERVICE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기획 배경 및 해결하고자 하는 문제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011680"/>
            <a:ext cx="3383280" cy="384048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33832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283464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• 대기 피로도 극복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83464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식당 입장을 위해 장시간 현장에서 대기하는 비효율성을 극복하여 미식 소비의 만족도를 높입니다.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011680"/>
            <a:ext cx="3383280" cy="384048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2011680"/>
            <a:ext cx="33832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83464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• 예약 부도(No-Show) 방지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방문 일정뿐만 아니라 세부 식사 메뉴까지 모바일을 통해 선주문함으로써 매장의 노쇼 리스크를 차단합니다.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011680"/>
            <a:ext cx="3383280" cy="384048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2011680"/>
            <a:ext cx="33832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377440"/>
            <a:ext cx="283464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• 정보 불일치 해소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017520"/>
            <a:ext cx="2834640" cy="2560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창가석, 프라이빗 룸 등 고객이 실제 선호하는 좌석 형태를 2D 배치도로 확인하여 정보 격차를 완전히 해소합니다.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SERVICE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서비스 가치 및 제공 기능 개요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94560"/>
            <a:ext cx="3291840" cy="34747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468880"/>
            <a:ext cx="1005840" cy="36576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058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에이투지체"/>
              </a:rPr>
              <a:t>STEP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방문일 및 일정 지정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캘린더 UI를 통해 원하는 예약 날짜와 인원, 디너 시간대를 정밀 세팅합니다.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3931920"/>
            <a:ext cx="27432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194560"/>
            <a:ext cx="3291840" cy="34747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468880"/>
            <a:ext cx="1005840" cy="36576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10058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에이투지체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가상 테이블 지정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39"/>
            <a:ext cx="2743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실시간 점유 상태를 반영하여 창가석, 룸 등 원하는 테이블을 SeatMap 지도에서 선택합니다.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80" y="3931920"/>
            <a:ext cx="27432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2194560"/>
            <a:ext cx="3291840" cy="34747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468880"/>
            <a:ext cx="1005840" cy="36576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100584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에이투지체"/>
              </a:rPr>
              <a:t>STEP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코스 메뉴 담기 및 결제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49039"/>
            <a:ext cx="2743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매칭된 파인다이닝 코스 요리를 장바구니에 사전에 담고 모의 선결제를 확정합니다.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1C60EF"/>
                </a:solidFill>
                <a:latin typeface="에이투지체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0"/>
            <a:ext cx="91440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200" b="1">
                <a:solidFill>
                  <a:srgbClr val="191F28"/>
                </a:solidFill>
                <a:latin typeface="KIMM_오피스체_Bold"/>
              </a:rPr>
              <a:t>서비스 구현 범위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4114800"/>
            <a:ext cx="274320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DEVELOPMENT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Client, Server, AI 구현 명세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KIMM_오피스체_Bold"/>
              </a:rPr>
              <a:t>클라이언트 (Client UI/UX)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모바일 반응형 뷰포트 &amp; 480px 기기 프레임 적용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Sticky Bottom Navigation (예약 홈/내역/챗봇)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11480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3단계 가이드 예약 모듈 및 사전 메뉴 담기 장바구니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75488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결제 금액 실시간 합산 &amp; 모의 결제 연동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828800"/>
            <a:ext cx="512064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KIMM_오피스체_Bold"/>
              </a:rPr>
              <a:t>백엔드 및 AI (Server &amp; 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Next.js API Routes (로그인, 예약 상태, 챗봇)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47472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실시간 중복 예약을 방지하는 날짜/시간별 좌석 점유 조회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1480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사장님 전용 대시보드 (예약 승인, 거절 및 Cascade 완전삭제)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54880"/>
            <a:ext cx="45720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GROQ SDK Llama-3.3 LLM 연계 실시간 자동 상담 챗봇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1C60EF"/>
                </a:solidFill>
                <a:latin typeface="에이투지체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0"/>
            <a:ext cx="91440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200" b="1">
                <a:solidFill>
                  <a:srgbClr val="191F28"/>
                </a:solidFill>
                <a:latin typeface="KIMM_오피스체_Bold"/>
              </a:rPr>
              <a:t>서비스 UI 및 레퍼런스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4114800"/>
            <a:ext cx="274320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UI &amp;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TOSS 디자인 스타일 및 애자일 작업 프로세스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6675120" cy="411480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67512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612648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토스(TOSS) 디자인 레퍼런스 적용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612648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깔끔하고 신뢰감을 주는 Toss Blue (#1C60EF) 브랜드 테마 적용.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612648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테두리를 최소화하고 둥글고 정갈한 플랫 카드 레이아웃 적용.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06240"/>
            <a:ext cx="612648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모바일 하단 네비게이션 가이드를 완비하여 엄지 터치 안정성 확보.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37760"/>
            <a:ext cx="6126480" cy="6858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애자일 점진적 작업 프로세스를 거쳐 뼈대를 완성하고, 기획 피드백에 맞춰 식당 예약 지식 베이스 및 UI 통합을 영구 정밀화했습니다.</a:t>
            </a:r>
          </a:p>
        </p:txBody>
      </p:sp>
      <p:pic>
        <p:nvPicPr>
          <p:cNvPr id="12" name="Picture 11" descr="temp_toss_ref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828800"/>
            <a:ext cx="3474720" cy="75198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1C60EF"/>
                </a:solidFill>
                <a:latin typeface="에이투지체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0"/>
            <a:ext cx="91440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200" b="1">
                <a:solidFill>
                  <a:srgbClr val="191F28"/>
                </a:solidFill>
                <a:latin typeface="KIMM_오피스체_Bold"/>
              </a:rPr>
              <a:t>백엔드 및 DB 구성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4114800"/>
            <a:ext cx="274320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Next.js API Routes 및 AI 추론 연동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920240"/>
            <a:ext cx="2468880" cy="39319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24688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Auth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>
                <a:solidFill>
                  <a:srgbClr val="4E5968"/>
                </a:solidFill>
                <a:latin typeface="에이투지체"/>
              </a:rPr>
              <a:t>/api/auth/login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03120" cy="2377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191F28"/>
                </a:solidFill>
                <a:latin typeface="에이투지체"/>
              </a:rPr>
              <a:t>사용자 계정 생성, 로그인 암호화 및 유저 권한(사용자/어드민) 세션 토큰화 관리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46120" y="3886200"/>
            <a:ext cx="182880" cy="0"/>
          </a:xfrm>
          <a:prstGeom prst="line">
            <a:avLst/>
          </a:prstGeom>
          <a:ln w="1905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74720" y="1920240"/>
            <a:ext cx="2468880" cy="39319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920240"/>
            <a:ext cx="24688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219456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Reservation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>
                <a:solidFill>
                  <a:srgbClr val="4E5968"/>
                </a:solidFill>
                <a:latin typeface="에이투지체"/>
              </a:rPr>
              <a:t>/api/reservations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2103120" cy="2377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191F28"/>
                </a:solidFill>
                <a:latin typeface="에이투지체"/>
              </a:rPr>
              <a:t>방문 날짜 및 시간대별 실시간 좌석 점유 조회 및 DB 점유 접수 처리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20" y="3886200"/>
            <a:ext cx="182880" cy="0"/>
          </a:xfrm>
          <a:prstGeom prst="line">
            <a:avLst/>
          </a:prstGeom>
          <a:ln w="1905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17920" y="1920240"/>
            <a:ext cx="2468880" cy="39319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920240"/>
            <a:ext cx="24688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219456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Admin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74320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>
                <a:solidFill>
                  <a:srgbClr val="4E5968"/>
                </a:solidFill>
                <a:latin typeface="에이투지체"/>
              </a:rPr>
              <a:t>/api/reservations/[id]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291840"/>
            <a:ext cx="2103120" cy="2377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191F28"/>
                </a:solidFill>
                <a:latin typeface="에이투지체"/>
              </a:rPr>
              <a:t>사장님 모드에서의 예약 승인/거절 상태 변경 및 완전 Cascade Delete 삭제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32520" y="3886200"/>
            <a:ext cx="182880" cy="0"/>
          </a:xfrm>
          <a:prstGeom prst="line">
            <a:avLst/>
          </a:prstGeom>
          <a:ln w="1905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961120" y="1920240"/>
            <a:ext cx="2468880" cy="39319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1920240"/>
            <a:ext cx="246888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19456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AI Chat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743200"/>
            <a:ext cx="210312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100" b="0">
                <a:solidFill>
                  <a:srgbClr val="4E5968"/>
                </a:solidFill>
                <a:latin typeface="에이투지체"/>
              </a:rPr>
              <a:t>/api/chat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291840"/>
            <a:ext cx="2103120" cy="23774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0">
                <a:solidFill>
                  <a:srgbClr val="191F28"/>
                </a:solidFill>
                <a:latin typeface="에이투지체"/>
              </a:rPr>
              <a:t>API Key의 브라우저 노출을 방지하고 서버사이드에서 안전하게 LLM 추론 위임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DATABASE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Prisma &amp; Supabase DB 관계 모델링 (ERD)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800" b="1">
                <a:solidFill>
                  <a:srgbClr val="1C60EF"/>
                </a:solidFill>
                <a:latin typeface="KIMM_오피스체_Bold"/>
              </a:rPr>
              <a:t>Prisma Schema &amp; Cascade 제약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**Supabase PostgreSQL** 클라우드 데이터베이스를 기반으로 고가용성 예약 인프라 구축.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45720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**User ── Reservation ── ReservationItem**의 정규화된 3대 핵심 테이블 구성.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480560"/>
            <a:ext cx="45720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예약 삭제(DELETE) 발생 시, 연결된 ReservationItem(주문요리) 데이터가 Cascade 룰에 의해 안전하고 정밀하게 연쇄 물리 자동 소멸.</a:t>
            </a:r>
          </a:p>
        </p:txBody>
      </p:sp>
      <p:pic>
        <p:nvPicPr>
          <p:cNvPr id="11" name="Picture 10" descr="media__17841689289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212080" cy="228028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56032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400" b="1">
                <a:solidFill>
                  <a:srgbClr val="1C60EF"/>
                </a:solidFill>
                <a:latin typeface="에이투지체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017520"/>
            <a:ext cx="91440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200" b="1">
                <a:solidFill>
                  <a:srgbClr val="191F28"/>
                </a:solidFill>
                <a:latin typeface="KIMM_오피스체_Bold"/>
              </a:rPr>
              <a:t>서비스 이용 시연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4114800"/>
            <a:ext cx="274320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DEMO SCENARIO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실시간 테이블 선점 락 &amp; 중복 예약 방지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2194560"/>
            <a:ext cx="3291840" cy="34747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468880"/>
            <a:ext cx="1371600" cy="36576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371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에이투지체"/>
              </a:rPr>
              <a:t>STAGE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1C60EF"/>
                </a:solidFill>
                <a:latin typeface="KIMM_오피스체_Bold"/>
              </a:rPr>
              <a:t>일정 클릭 즉시 조회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2743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사용자가 방문 일자와 시간대를 토글하는 즉시 API가 호출되어 DB로부터 기완료된 좌석을 정밀 타격 조회합니다.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69080" y="3931920"/>
            <a:ext cx="27432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194560"/>
            <a:ext cx="3291840" cy="34747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63440" y="2468880"/>
            <a:ext cx="1371600" cy="36576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514600"/>
            <a:ext cx="1371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에이투지체"/>
              </a:rPr>
              <a:t>STAGE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0896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1C60EF"/>
                </a:solidFill>
                <a:latin typeface="KIMM_오피스체_Bold"/>
              </a:rPr>
              <a:t>SeatMap 실시간 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39"/>
            <a:ext cx="2743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선점된 테이블 ID(Table 1~6)는 화면 상에서 즉시 회색으로 강제 비활성화되어 다른 세션의 터치/선택을 차단합니다.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26680" y="3931920"/>
            <a:ext cx="274320" cy="0"/>
          </a:xfrm>
          <a:prstGeom prst="line">
            <a:avLst/>
          </a:prstGeom>
          <a:ln w="25400">
            <a:solidFill>
              <a:srgbClr val="1C60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46720" y="2194560"/>
            <a:ext cx="3291840" cy="347472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2468880"/>
            <a:ext cx="1371600" cy="365760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514600"/>
            <a:ext cx="13716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에이투지체"/>
              </a:rPr>
              <a:t>STAGE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108960"/>
            <a:ext cx="27432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700" b="1">
                <a:solidFill>
                  <a:srgbClr val="1C60EF"/>
                </a:solidFill>
                <a:latin typeface="KIMM_오피스체_Bold"/>
              </a:rPr>
              <a:t>트랜잭션 충돌 원천 제어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749039"/>
            <a:ext cx="2743200" cy="16459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예약 완료 POST 전송 시 서버가 중복 여부를 최종 재확인함으로써 다중 동시 선점 문제를 완벽 해결합니다.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300" b="1">
                <a:solidFill>
                  <a:srgbClr val="1C60EF"/>
                </a:solidFill>
                <a:latin typeface="에이투지체"/>
              </a:rPr>
              <a:t>DEMO SCENARIO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749808"/>
            <a:ext cx="10515600" cy="8229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3200" b="1">
                <a:solidFill>
                  <a:srgbClr val="191F28"/>
                </a:solidFill>
                <a:latin typeface="KIMM_오피스체_Bold"/>
              </a:rPr>
              <a:t>AI 상담 챗봇 및 어드민 실시간 삭제 동기화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508760"/>
            <a:ext cx="10698480" cy="0"/>
          </a:xfrm>
          <a:prstGeom prst="line">
            <a:avLst/>
          </a:prstGeom>
          <a:ln w="19050">
            <a:solidFill>
              <a:srgbClr val="E5E8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31520" y="1828800"/>
            <a:ext cx="5120640" cy="411480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12064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KIMM_오피스체_Bold"/>
              </a:rPr>
              <a:t>매장 데이터 동기화 AI 챗봇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834640"/>
            <a:ext cx="457200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실제 예매 화면의 한우 채끝 코스 요리 메뉴, 6개 테이블의 특징, 무료 발레파킹 정보를 Llama-3.3 LLM에 100% 바인딩.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06240"/>
            <a:ext cx="457200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소비자가 '발레파킹 요금이 얼마인가요?', '조용한 룸 예약 가능한가요?' 질문 시 매장 실제 사양에 완전히 밀착된 정밀 응대 시연.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120640" cy="4114800"/>
          </a:xfrm>
          <a:prstGeom prst="roundRect">
            <a:avLst/>
          </a:prstGeom>
          <a:solidFill>
            <a:srgbClr val="DB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5120640" cy="109728"/>
          </a:xfrm>
          <a:prstGeom prst="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94560"/>
            <a:ext cx="4572000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1C60EF"/>
                </a:solidFill>
                <a:latin typeface="KIMM_오피스체_Bold"/>
              </a:rPr>
              <a:t>어드민 실시간 삭제 &amp; 좌석 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834640"/>
            <a:ext cx="457200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사장님이 관리자 탭에서 승인된 예약을 물리 영구 삭제하는 즉시 유저 마이페이지 내 예약 현황 리스트에서 삭제 연계.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206240"/>
            <a:ext cx="4572000" cy="12801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1400" b="0">
                <a:solidFill>
                  <a:srgbClr val="191F28"/>
                </a:solidFill>
                <a:latin typeface="에이투지체"/>
              </a:rPr>
              <a:t>• 삭제 처리 즉시 해당 예약 슬롯의 좌석 락이 즉각 해제되어 SeatMap 상에서 예약 가능한 녹색 상태로 동적 복구 시연.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10725912" cy="3840480"/>
          </a:xfrm>
          <a:prstGeom prst="roundRect">
            <a:avLst/>
          </a:prstGeom>
          <a:solidFill>
            <a:srgbClr val="1C6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286000"/>
            <a:ext cx="96012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KIMM_오피스체_Bold"/>
              </a:rPr>
              <a:t>경청해 주셔서 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474720"/>
            <a:ext cx="96012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/>
            <a:r>
              <a:rPr sz="2000" b="1">
                <a:solidFill>
                  <a:srgbClr val="DBE8FE"/>
                </a:solidFill>
                <a:latin typeface="에이투지체"/>
              </a:rPr>
              <a:t>라롬 (L'AROME) 식당 예약 플랫폼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095" y="6309360"/>
            <a:ext cx="82296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r"/>
            <a:r>
              <a:rPr sz="1100" b="0">
                <a:solidFill>
                  <a:srgbClr val="4E5968"/>
                </a:solidFill>
                <a:latin typeface="에이투지체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