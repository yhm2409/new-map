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134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b="1">
                <a:solidFill>
                  <a:srgbClr val="3182F6"/>
                </a:solidFill>
                <a:latin typeface="Malgun Gothic"/>
              </a:defRPr>
            </a:pPr>
            <a:r>
              <a:t>L'AROME FINE DINING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3464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b="1">
                <a:solidFill>
                  <a:srgbClr val="191F28"/>
                </a:solidFill>
                <a:latin typeface="Malgun Gothic"/>
              </a:defRPr>
            </a:pPr>
            <a:r>
              <a:t>라롬 (L'AROME) 식당 예약 및 AI 상담 플랫폼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22960" y="4069080"/>
            <a:ext cx="2926080" cy="0"/>
          </a:xfrm>
          <a:prstGeom prst="line">
            <a:avLst/>
          </a:prstGeom>
          <a:ln w="19050">
            <a:solidFill>
              <a:srgbClr val="EA58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4251960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b="1">
                <a:solidFill>
                  <a:srgbClr val="191F28"/>
                </a:solidFill>
                <a:latin typeface="Malgun Gothic"/>
              </a:defRPr>
            </a:pPr>
            <a:r>
              <a:t>라롬 (L'AROME) 식당 예약 및 AI 상담 플랫폼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b="1">
                <a:latin typeface="Malgun Gothic"/>
              </a:defRPr>
            </a:pPr>
            <a:r>
              <a:rPr sz="1300" b="1">
                <a:solidFill>
                  <a:srgbClr val="EA580C"/>
                </a:solidFill>
                <a:latin typeface="맑은 고딕"/>
              </a:rPr>
              <a:t>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7724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b="1">
                <a:latin typeface="Malgun Gothic"/>
              </a:defRPr>
            </a:pPr>
            <a:r>
              <a:rPr sz="3000" b="1">
                <a:solidFill>
                  <a:srgbClr val="134E4A"/>
                </a:solidFill>
                <a:latin typeface="맑은 고딕"/>
              </a:rPr>
              <a:t>목차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554480"/>
            <a:ext cx="10881360" cy="0"/>
          </a:xfrm>
          <a:prstGeom prst="line">
            <a:avLst/>
          </a:prstGeom>
          <a:ln w="15875">
            <a:solidFill>
              <a:srgbClr val="B8D3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94415" y="630936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b="1">
                <a:latin typeface="Malgun Gothic"/>
              </a:defRPr>
            </a:pPr>
            <a:r>
              <a:rPr sz="1100" b="0">
                <a:solidFill>
                  <a:srgbClr val="EA580C"/>
                </a:solidFill>
                <a:latin typeface="맑은 고딕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1097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b="1">
                <a:latin typeface="Malgun Gothic"/>
              </a:defRPr>
            </a:pPr>
            <a:r>
              <a:rPr sz="2200" b="1">
                <a:solidFill>
                  <a:srgbClr val="EA580C"/>
                </a:solidFill>
                <a:latin typeface="맑은 고딕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1993392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b="1">
                <a:latin typeface="Malgun Gothic"/>
              </a:defRPr>
            </a:pPr>
            <a:r>
              <a:rPr sz="2000" b="1">
                <a:solidFill>
                  <a:srgbClr val="134E4A"/>
                </a:solidFill>
                <a:latin typeface="맑은 고딕"/>
              </a:rPr>
              <a:t>서비스 소개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31520" y="2587752"/>
            <a:ext cx="9875520" cy="0"/>
          </a:xfrm>
          <a:prstGeom prst="line">
            <a:avLst/>
          </a:prstGeom>
          <a:ln w="12700">
            <a:solidFill>
              <a:srgbClr val="B8D3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31520" y="2743200"/>
            <a:ext cx="1097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b="1">
                <a:latin typeface="Malgun Gothic"/>
              </a:defRPr>
            </a:pPr>
            <a:r>
              <a:rPr sz="2200" b="1">
                <a:solidFill>
                  <a:srgbClr val="EA580C"/>
                </a:solidFill>
                <a:latin typeface="맑은 고딕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770632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b="1">
                <a:latin typeface="Malgun Gothic"/>
              </a:defRPr>
            </a:pPr>
            <a:r>
              <a:rPr sz="2000" b="1">
                <a:solidFill>
                  <a:srgbClr val="134E4A"/>
                </a:solidFill>
                <a:latin typeface="맑은 고딕"/>
              </a:rPr>
              <a:t>서비스 구현 범위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31520" y="3364992"/>
            <a:ext cx="9875520" cy="0"/>
          </a:xfrm>
          <a:prstGeom prst="line">
            <a:avLst/>
          </a:prstGeom>
          <a:ln w="12700">
            <a:solidFill>
              <a:srgbClr val="B8D3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31520" y="3520440"/>
            <a:ext cx="1097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b="1">
                <a:latin typeface="Malgun Gothic"/>
              </a:defRPr>
            </a:pPr>
            <a:r>
              <a:rPr sz="2200" b="1">
                <a:solidFill>
                  <a:srgbClr val="EA580C"/>
                </a:solidFill>
                <a:latin typeface="맑은 고딕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3547872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b="1">
                <a:latin typeface="Malgun Gothic"/>
              </a:defRPr>
            </a:pPr>
            <a:r>
              <a:rPr sz="2000" b="1">
                <a:solidFill>
                  <a:srgbClr val="134E4A"/>
                </a:solidFill>
                <a:latin typeface="맑은 고딕"/>
              </a:rPr>
              <a:t>서비스 UI 및 레퍼런스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31520" y="4142232"/>
            <a:ext cx="9875520" cy="0"/>
          </a:xfrm>
          <a:prstGeom prst="line">
            <a:avLst/>
          </a:prstGeom>
          <a:ln w="12700">
            <a:solidFill>
              <a:srgbClr val="B8D3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31520" y="4297680"/>
            <a:ext cx="1097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b="1">
                <a:latin typeface="Malgun Gothic"/>
              </a:defRPr>
            </a:pPr>
            <a:r>
              <a:rPr sz="2200" b="1">
                <a:solidFill>
                  <a:srgbClr val="EA580C"/>
                </a:solidFill>
                <a:latin typeface="맑은 고딕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4325112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b="1">
                <a:latin typeface="Malgun Gothic"/>
              </a:defRPr>
            </a:pPr>
            <a:r>
              <a:rPr sz="2000" b="1">
                <a:solidFill>
                  <a:srgbClr val="134E4A"/>
                </a:solidFill>
                <a:latin typeface="맑은 고딕"/>
              </a:rPr>
              <a:t>백엔드 및 DB 구성 (ERD)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31520" y="4919472"/>
            <a:ext cx="9875520" cy="0"/>
          </a:xfrm>
          <a:prstGeom prst="line">
            <a:avLst/>
          </a:prstGeom>
          <a:ln w="12700">
            <a:solidFill>
              <a:srgbClr val="B8D3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31520" y="5074920"/>
            <a:ext cx="1097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b="1">
                <a:latin typeface="Malgun Gothic"/>
              </a:defRPr>
            </a:pPr>
            <a:r>
              <a:rPr sz="2200" b="1">
                <a:solidFill>
                  <a:srgbClr val="EA580C"/>
                </a:solidFill>
                <a:latin typeface="맑은 고딕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5102352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b="1">
                <a:latin typeface="Malgun Gothic"/>
              </a:defRPr>
            </a:pPr>
            <a:r>
              <a:rPr sz="2000" b="1">
                <a:solidFill>
                  <a:srgbClr val="134E4A"/>
                </a:solidFill>
                <a:latin typeface="맑은 고딕"/>
              </a:rPr>
              <a:t>서비스 이용 시연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31520" y="5696712"/>
            <a:ext cx="9875520" cy="0"/>
          </a:xfrm>
          <a:prstGeom prst="line">
            <a:avLst/>
          </a:prstGeom>
          <a:ln w="12700">
            <a:solidFill>
              <a:srgbClr val="B8D3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926080"/>
            <a:ext cx="1828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EA580C"/>
                </a:solidFill>
                <a:latin typeface="맑은 고딕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329184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134E4A"/>
                </a:solidFill>
                <a:latin typeface="맑은 고딕"/>
              </a:rPr>
              <a:t>서비스 소개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4206240"/>
            <a:ext cx="2194560" cy="0"/>
          </a:xfrm>
          <a:prstGeom prst="line">
            <a:avLst/>
          </a:prstGeom>
          <a:ln w="19050">
            <a:solidFill>
              <a:srgbClr val="EA58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94415" y="630936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EA580C"/>
                </a:solidFill>
                <a:latin typeface="맑은 고딕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A580C"/>
                </a:solidFill>
                <a:latin typeface="맑은 고딕"/>
              </a:rPr>
              <a:t>SERVICE INTRO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7724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34E4A"/>
                </a:solidFill>
                <a:latin typeface="맑은 고딕"/>
              </a:rPr>
              <a:t>기획 배경 및 타겟 사용자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554480"/>
            <a:ext cx="10881360" cy="0"/>
          </a:xfrm>
          <a:prstGeom prst="line">
            <a:avLst/>
          </a:prstGeom>
          <a:ln w="15875">
            <a:solidFill>
              <a:srgbClr val="B8D3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94415" y="630936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EA580C"/>
                </a:solidFill>
                <a:latin typeface="맑은 고딕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91F28"/>
                </a:solidFill>
                <a:latin typeface="Malgun Gothic"/>
              </a:defRPr>
            </a:pPr>
            <a:r>
              <a:t>• 바쁜 현대인의 예약 대기 리소스 최적화</a:t>
            </a:r>
          </a:p>
          <a:p>
            <a:pPr>
              <a:spcAft>
                <a:spcPts val="800"/>
              </a:spcAft>
              <a:defRPr sz="1600" b="0">
                <a:solidFill>
                  <a:srgbClr val="4E5968"/>
                </a:solidFill>
                <a:latin typeface="Malgun Gothic"/>
              </a:defRPr>
            </a:pPr>
            <a:r>
              <a:t>  - 식당 입장을 위해 장시간 오프라인 대기하는 시간과 불편을 근본적으로 극복합니다.</a:t>
            </a:r>
          </a:p>
          <a:p>
            <a:br/>
            <a:pPr>
              <a:spcAft>
                <a:spcPts val="800"/>
              </a:spcAft>
              <a:defRPr sz="1600" b="1">
                <a:solidFill>
                  <a:srgbClr val="191F28"/>
                </a:solidFill>
                <a:latin typeface="Malgun Gothic"/>
              </a:defRPr>
            </a:pPr>
            <a:r>
              <a:t>• 파인다이닝 예약 부도(No-Show) 방지</a:t>
            </a:r>
          </a:p>
          <a:p>
            <a:pPr>
              <a:spcAft>
                <a:spcPts val="800"/>
              </a:spcAft>
              <a:defRPr sz="1600" b="0">
                <a:solidFill>
                  <a:srgbClr val="4E5968"/>
                </a:solidFill>
                <a:latin typeface="Malgun Gothic"/>
              </a:defRPr>
            </a:pPr>
            <a:r>
              <a:t>  - 사전에 방문 일정과 세부 식사 메뉴를 조율/선택 완료하여 예약 신뢰성을 향상시킵니다.</a:t>
            </a:r>
          </a:p>
          <a:p>
            <a:br/>
            <a:pPr>
              <a:spcAft>
                <a:spcPts val="800"/>
              </a:spcAft>
              <a:defRPr sz="1600" b="1">
                <a:solidFill>
                  <a:srgbClr val="191F28"/>
                </a:solidFill>
                <a:latin typeface="Malgun Gothic"/>
              </a:defRPr>
            </a:pPr>
            <a:r>
              <a:t>• 정보 불일치 해소</a:t>
            </a:r>
          </a:p>
          <a:p>
            <a:pPr>
              <a:spcAft>
                <a:spcPts val="800"/>
              </a:spcAft>
              <a:defRPr sz="1600" b="0">
                <a:solidFill>
                  <a:srgbClr val="4E5968"/>
                </a:solidFill>
                <a:latin typeface="Malgun Gothic"/>
              </a:defRPr>
            </a:pPr>
            <a:r>
              <a:t>  - 창가석, 룸, 테라스 등 좌석의 실제 형태를 미리 확인하지 못해 발생하던 현장 불만족을 방지합니다.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A580C"/>
                </a:solidFill>
                <a:latin typeface="맑은 고딕"/>
              </a:rPr>
              <a:t>SERVICE INTRO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7724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34E4A"/>
                </a:solidFill>
                <a:latin typeface="맑은 고딕"/>
              </a:rPr>
              <a:t>핵심 기능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554480"/>
            <a:ext cx="10881360" cy="0"/>
          </a:xfrm>
          <a:prstGeom prst="line">
            <a:avLst/>
          </a:prstGeom>
          <a:ln w="15875">
            <a:solidFill>
              <a:srgbClr val="B8D3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94415" y="630936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EA580C"/>
                </a:solidFill>
                <a:latin typeface="맑은 고딕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91F28"/>
                </a:solidFill>
                <a:latin typeface="Malgun Gothic"/>
              </a:defRPr>
            </a:pPr>
            <a:r>
              <a:t>• 원스톱 미식 예약 여정</a:t>
            </a:r>
          </a:p>
          <a:p>
            <a:pPr>
              <a:spcAft>
                <a:spcPts val="800"/>
              </a:spcAft>
              <a:defRPr sz="1600" b="0">
                <a:solidFill>
                  <a:srgbClr val="4E5968"/>
                </a:solidFill>
                <a:latin typeface="Malgun Gothic"/>
              </a:defRPr>
            </a:pPr>
            <a:r>
              <a:t>  - 인원/일정 선택 ➡️ 2D 지도 기반 좌석 테이블 선점 ➡️ 사전 메뉴 주문의 매끄러운 3단계 동선 설계.</a:t>
            </a:r>
          </a:p>
          <a:p>
            <a:br/>
            <a:pPr>
              <a:spcAft>
                <a:spcPts val="800"/>
              </a:spcAft>
              <a:defRPr sz="1600" b="1">
                <a:solidFill>
                  <a:srgbClr val="191F28"/>
                </a:solidFill>
                <a:latin typeface="Malgun Gothic"/>
              </a:defRPr>
            </a:pPr>
            <a:r>
              <a:t>• 직관적 2D 좌석 배치도 (SeatMap)</a:t>
            </a:r>
          </a:p>
          <a:p>
            <a:pPr>
              <a:spcAft>
                <a:spcPts val="800"/>
              </a:spcAft>
              <a:defRPr sz="1600" b="0">
                <a:solidFill>
                  <a:srgbClr val="4E5968"/>
                </a:solidFill>
                <a:latin typeface="Malgun Gothic"/>
              </a:defRPr>
            </a:pPr>
            <a:r>
              <a:t>  - 창가석, 프라이빗 단체 룸, 테라스 뷰 등 좌석 성격을 시각적으로 인지하고 원하는 자리를 미리 확보합니다.</a:t>
            </a:r>
          </a:p>
          <a:p>
            <a:br/>
            <a:pPr>
              <a:spcAft>
                <a:spcPts val="800"/>
              </a:spcAft>
              <a:defRPr sz="1600" b="1">
                <a:solidFill>
                  <a:srgbClr val="191F28"/>
                </a:solidFill>
                <a:latin typeface="Malgun Gothic"/>
              </a:defRPr>
            </a:pPr>
            <a:r>
              <a:t>• 식당 데이터 100% 동기화 AI 컨시어지</a:t>
            </a:r>
          </a:p>
          <a:p>
            <a:pPr>
              <a:spcAft>
                <a:spcPts val="800"/>
              </a:spcAft>
              <a:defRPr sz="1600" b="0">
                <a:solidFill>
                  <a:srgbClr val="4E5968"/>
                </a:solidFill>
                <a:latin typeface="Malgun Gothic"/>
              </a:defRPr>
            </a:pPr>
            <a:r>
              <a:t>  - 24시간 실시간 소비자 챗봇 상담을 통해 매장의 전화 문의 리소스를 획기적으로 낮춥니다.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926080"/>
            <a:ext cx="1828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EA580C"/>
                </a:solidFill>
                <a:latin typeface="맑은 고딕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329184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134E4A"/>
                </a:solidFill>
                <a:latin typeface="맑은 고딕"/>
              </a:rPr>
              <a:t>서비스 구현 범위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4206240"/>
            <a:ext cx="2194560" cy="0"/>
          </a:xfrm>
          <a:prstGeom prst="line">
            <a:avLst/>
          </a:prstGeom>
          <a:ln w="19050">
            <a:solidFill>
              <a:srgbClr val="EA58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94415" y="630936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EA580C"/>
                </a:solidFill>
                <a:latin typeface="맑은 고딕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A580C"/>
                </a:solidFill>
                <a:latin typeface="맑은 고딕"/>
              </a:rPr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7724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b="1">
                <a:solidFill>
                  <a:srgbClr val="191F28"/>
                </a:solidFill>
                <a:latin typeface="Malgun Gothic"/>
              </a:defRPr>
            </a:pPr>
            <a:r>
              <a:t>Client, Server, AI 구현 명세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554480"/>
            <a:ext cx="10881360" cy="0"/>
          </a:xfrm>
          <a:prstGeom prst="line">
            <a:avLst/>
          </a:prstGeom>
          <a:ln w="15875">
            <a:solidFill>
              <a:srgbClr val="B8D3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94415" y="630936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EA580C"/>
                </a:solidFill>
                <a:latin typeface="맑은 고딕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91F28"/>
                </a:solidFill>
                <a:latin typeface="Malgun Gothic"/>
              </a:defRPr>
            </a:pPr>
            <a:r>
              <a:t>• 클라이언트 (Client UI/UX Scope)</a:t>
            </a:r>
          </a:p>
          <a:p>
            <a:pPr>
              <a:spcAft>
                <a:spcPts val="800"/>
              </a:spcAft>
              <a:defRPr sz="1400" b="0">
                <a:solidFill>
                  <a:srgbClr val="4E5968"/>
                </a:solidFill>
                <a:latin typeface="Malgun Gothic"/>
              </a:defRPr>
            </a:pPr>
            <a:r>
              <a:t>  - 모바일 반응형 뷰포트 기기 프레임 및 하단 Sticky 네비게이션 탭바 탑재.</a:t>
            </a:r>
          </a:p>
          <a:p>
            <a:pPr>
              <a:spcAft>
                <a:spcPts val="800"/>
              </a:spcAft>
              <a:defRPr sz="1400" b="0">
                <a:solidFill>
                  <a:srgbClr val="4E5968"/>
                </a:solidFill>
                <a:latin typeface="Malgun Gothic"/>
              </a:defRPr>
            </a:pPr>
            <a:r>
              <a:t>  - 3단계 예약 진행 동선 및 장바구니 총 금액 실시간 정산 기능 구현.</a:t>
            </a:r>
          </a:p>
          <a:p>
            <a:br/>
            <a:pPr>
              <a:spcAft>
                <a:spcPts val="800"/>
              </a:spcAft>
              <a:defRPr sz="1400" b="1">
                <a:solidFill>
                  <a:srgbClr val="191F28"/>
                </a:solidFill>
                <a:latin typeface="Malgun Gothic"/>
              </a:defRPr>
            </a:pPr>
            <a:r>
              <a:t>• 백엔드 서버 (Backend API Scope)</a:t>
            </a:r>
          </a:p>
          <a:p>
            <a:pPr>
              <a:spcAft>
                <a:spcPts val="800"/>
              </a:spcAft>
              <a:defRPr sz="1400" b="0">
                <a:solidFill>
                  <a:srgbClr val="4E5968"/>
                </a:solidFill>
                <a:latin typeface="Malgun Gothic"/>
              </a:defRPr>
            </a:pPr>
            <a:r>
              <a:t>  - Next.js API Routes 기반 유저 회원가입/로그인 및 인증 관리.</a:t>
            </a:r>
          </a:p>
          <a:p>
            <a:pPr>
              <a:spcAft>
                <a:spcPts val="800"/>
              </a:spcAft>
              <a:defRPr sz="1400" b="0">
                <a:solidFill>
                  <a:srgbClr val="4E5968"/>
                </a:solidFill>
                <a:latin typeface="Malgun Gothic"/>
              </a:defRPr>
            </a:pPr>
            <a:r>
              <a:t>  - 좌석의 실시간 중복 차단을 보장하는 날짜/시간대별 점유 조회 API 구현.</a:t>
            </a:r>
          </a:p>
          <a:p>
            <a:pPr>
              <a:spcAft>
                <a:spcPts val="800"/>
              </a:spcAft>
              <a:defRPr sz="1400" b="0">
                <a:solidFill>
                  <a:srgbClr val="4E5968"/>
                </a:solidFill>
                <a:latin typeface="Malgun Gothic"/>
              </a:defRPr>
            </a:pPr>
            <a:r>
              <a:t>  - 사장님 관리 전용 데스크톱 가로형 어드민 뷰포트 연계 및 예약 승인/거절/영구 삭제 API.</a:t>
            </a:r>
          </a:p>
          <a:p>
            <a:br/>
            <a:pPr>
              <a:spcAft>
                <a:spcPts val="800"/>
              </a:spcAft>
              <a:defRPr sz="1400" b="1">
                <a:solidFill>
                  <a:srgbClr val="191F28"/>
                </a:solidFill>
                <a:latin typeface="Malgun Gothic"/>
              </a:defRPr>
            </a:pPr>
            <a:r>
              <a:t>• 인공지능 (AI Scope)</a:t>
            </a:r>
          </a:p>
          <a:p>
            <a:pPr>
              <a:spcAft>
                <a:spcPts val="800"/>
              </a:spcAft>
              <a:defRPr sz="1400" b="0">
                <a:solidFill>
                  <a:srgbClr val="4E5968"/>
                </a:solidFill>
                <a:latin typeface="Malgun Gothic"/>
              </a:defRPr>
            </a:pPr>
            <a:r>
              <a:t>  - GROQ SDK 및 Llama-3.3 LLM 연계 실시간 매장 자동화 상담 챗봇 탑재.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926080"/>
            <a:ext cx="1828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EA580C"/>
                </a:solidFill>
                <a:latin typeface="맑은 고딕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329184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b="1">
                <a:solidFill>
                  <a:srgbClr val="191F28"/>
                </a:solidFill>
                <a:latin typeface="Malgun Gothic"/>
              </a:defRPr>
            </a:pPr>
            <a:r>
              <a:t>서비스 UI 및 레퍼런스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4206240"/>
            <a:ext cx="2194560" cy="0"/>
          </a:xfrm>
          <a:prstGeom prst="line">
            <a:avLst/>
          </a:prstGeom>
          <a:ln w="19050">
            <a:solidFill>
              <a:srgbClr val="EA58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94415" y="630936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EA580C"/>
                </a:solidFill>
                <a:latin typeface="맑은 고딕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A580C"/>
                </a:solidFill>
                <a:latin typeface="맑은 고딕"/>
              </a:rPr>
              <a:t>USER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7724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34E4A"/>
                </a:solidFill>
                <a:latin typeface="맑은 고딕"/>
              </a:rPr>
              <a:t>사용자 플로우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554480"/>
            <a:ext cx="10881360" cy="0"/>
          </a:xfrm>
          <a:prstGeom prst="line">
            <a:avLst/>
          </a:prstGeom>
          <a:ln w="15875">
            <a:solidFill>
              <a:srgbClr val="B8D3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94415" y="630936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EA580C"/>
                </a:solidFill>
                <a:latin typeface="맑은 고딕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91F28"/>
                </a:solidFill>
                <a:latin typeface="Malgun Gothic"/>
              </a:defRPr>
            </a:pPr>
            <a:r>
              <a:t>• STEP 01. 방문 일정 설정</a:t>
            </a:r>
          </a:p>
          <a:p>
            <a:pPr>
              <a:spcAft>
                <a:spcPts val="800"/>
              </a:spcAft>
              <a:defRPr sz="1400" b="0">
                <a:solidFill>
                  <a:srgbClr val="4E5968"/>
                </a:solidFill>
                <a:latin typeface="Malgun Gothic"/>
              </a:defRPr>
            </a:pPr>
            <a:r>
              <a:t>  - 모바일 캘린더에서 예약일자, 인원수, 디너 타임 시간대를 정밀 조율합니다.</a:t>
            </a:r>
          </a:p>
          <a:p>
            <a:br/>
            <a:pPr>
              <a:spcAft>
                <a:spcPts val="800"/>
              </a:spcAft>
              <a:defRPr sz="1400" b="1">
                <a:solidFill>
                  <a:srgbClr val="191F28"/>
                </a:solidFill>
                <a:latin typeface="Malgun Gothic"/>
              </a:defRPr>
            </a:pPr>
            <a:r>
              <a:t>• STEP 02. 가상 테이블 선택</a:t>
            </a:r>
          </a:p>
          <a:p>
            <a:pPr>
              <a:spcAft>
                <a:spcPts val="800"/>
              </a:spcAft>
              <a:defRPr sz="1400" b="0">
                <a:solidFill>
                  <a:srgbClr val="4E5968"/>
                </a:solidFill>
                <a:latin typeface="Malgun Gothic"/>
              </a:defRPr>
            </a:pPr>
            <a:r>
              <a:t>  - 선택 일정의 점유 락을 체크하여 이미 찬 테이블을 제외한 나머지 좌석(창가석, 룸 등)을 지정합니다.</a:t>
            </a:r>
          </a:p>
          <a:p>
            <a:br/>
            <a:pPr>
              <a:spcAft>
                <a:spcPts val="800"/>
              </a:spcAft>
              <a:defRPr sz="1400" b="1">
                <a:solidFill>
                  <a:srgbClr val="191F28"/>
                </a:solidFill>
                <a:latin typeface="Malgun Gothic"/>
              </a:defRPr>
            </a:pPr>
            <a:r>
              <a:t>• STEP 03. 요리 코스 주문</a:t>
            </a:r>
          </a:p>
          <a:p>
            <a:pPr>
              <a:spcAft>
                <a:spcPts val="800"/>
              </a:spcAft>
              <a:defRPr sz="1400" b="0">
                <a:solidFill>
                  <a:srgbClr val="4E5968"/>
                </a:solidFill>
                <a:latin typeface="Malgun Gothic"/>
              </a:defRPr>
            </a:pPr>
            <a:r>
              <a:t>  - 매칭 코스 요리 메뉴판에서 원하는 세트를 장바구니에 담고 모의 결제 완료를 진행합니다.</a:t>
            </a:r>
          </a:p>
          <a:p>
            <a:br/>
            <a:pPr>
              <a:spcAft>
                <a:spcPts val="800"/>
              </a:spcAft>
              <a:defRPr sz="1400" b="1">
                <a:solidFill>
                  <a:srgbClr val="191F28"/>
                </a:solidFill>
                <a:latin typeface="Malgun Gothic"/>
              </a:defRPr>
            </a:pPr>
            <a:r>
              <a:t>• STEP 04. 내 예약 확인 및 취소</a:t>
            </a:r>
          </a:p>
          <a:p>
            <a:pPr>
              <a:spcAft>
                <a:spcPts val="800"/>
              </a:spcAft>
              <a:defRPr sz="1400" b="0">
                <a:solidFill>
                  <a:srgbClr val="4E5968"/>
                </a:solidFill>
                <a:latin typeface="Malgun Gothic"/>
              </a:defRPr>
            </a:pPr>
            <a:r>
              <a:t>  - 마이페이지 내역에서 승인대기/완료 상태를 모니터링하고 원클릭 삭제 연계를 진행합니다.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A580C"/>
                </a:solidFill>
                <a:latin typeface="맑은 고딕"/>
              </a:rPr>
              <a:t>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7724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34E4A"/>
                </a:solidFill>
                <a:latin typeface="맑은 고딕"/>
              </a:rPr>
              <a:t>디자인 레퍼런스 및 스타일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554480"/>
            <a:ext cx="10881360" cy="0"/>
          </a:xfrm>
          <a:prstGeom prst="line">
            <a:avLst/>
          </a:prstGeom>
          <a:ln w="15875">
            <a:solidFill>
              <a:srgbClr val="B8D3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94415" y="630936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EA580C"/>
                </a:solidFill>
                <a:latin typeface="맑은 고딕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685800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91F28"/>
                </a:solidFill>
                <a:latin typeface="Malgun Gothic"/>
              </a:defRPr>
            </a:pPr>
            <a:r>
              <a:t>• 토스(TOSS) UI 디자인 스타일 상속</a:t>
            </a:r>
          </a:p>
          <a:p>
            <a:pPr>
              <a:spcAft>
                <a:spcPts val="800"/>
              </a:spcAft>
              <a:defRPr sz="1500" b="0">
                <a:solidFill>
                  <a:srgbClr val="4E5968"/>
                </a:solidFill>
                <a:latin typeface="Malgun Gothic"/>
              </a:defRPr>
            </a:pPr>
            <a:r>
              <a:t>  - 군더더기 없는 플랫 둥근 카드 레이아웃과 뚜렷한 Toss Blue 테마 채용.</a:t>
            </a:r>
          </a:p>
          <a:p>
            <a:pPr>
              <a:spcAft>
                <a:spcPts val="800"/>
              </a:spcAft>
              <a:defRPr sz="1500" b="0">
                <a:solidFill>
                  <a:srgbClr val="4E5968"/>
                </a:solidFill>
                <a:latin typeface="Malgun Gothic"/>
              </a:defRPr>
            </a:pPr>
            <a:r>
              <a:t>  - 모바일 조작 안정성을 보장하는 엄지 영역(Bottom Nav Bar) 네비게이션 가이드.</a:t>
            </a:r>
          </a:p>
          <a:p>
            <a:br/>
            <a:pPr>
              <a:spcAft>
                <a:spcPts val="800"/>
              </a:spcAft>
              <a:defRPr sz="1500" b="1">
                <a:solidFill>
                  <a:srgbClr val="191F28"/>
                </a:solidFill>
                <a:latin typeface="Malgun Gothic"/>
              </a:defRPr>
            </a:pPr>
            <a:r>
              <a:t>• 애자일 점진적 작업 프로세스</a:t>
            </a:r>
          </a:p>
          <a:p>
            <a:pPr>
              <a:spcAft>
                <a:spcPts val="800"/>
              </a:spcAft>
              <a:defRPr sz="1500" b="0">
                <a:solidFill>
                  <a:srgbClr val="4E5968"/>
                </a:solidFill>
                <a:latin typeface="Malgun Gothic"/>
              </a:defRPr>
            </a:pPr>
            <a:r>
              <a:t>  - 뼈대 구현 후 도메인 확장 피드백 수렴.</a:t>
            </a:r>
          </a:p>
          <a:p>
            <a:pPr>
              <a:spcAft>
                <a:spcPts val="800"/>
              </a:spcAft>
              <a:defRPr sz="1500" b="0">
                <a:solidFill>
                  <a:srgbClr val="4E5968"/>
                </a:solidFill>
                <a:latin typeface="Malgun Gothic"/>
              </a:defRPr>
            </a:pPr>
            <a:r>
              <a:t>  - 식당 ➡️ 영화 ➡️ 식당 컨셉 롤백에 따른 챗봇 지식 베이스 복원 및 UI 통합 정교화.</a:t>
            </a:r>
          </a:p>
        </p:txBody>
      </p:sp>
      <p:pic>
        <p:nvPicPr>
          <p:cNvPr id="7" name="Picture 6" descr="temp_toss_ref_te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1645920"/>
            <a:ext cx="3474720" cy="751980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926080"/>
            <a:ext cx="1828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EA580C"/>
                </a:solidFill>
                <a:latin typeface="맑은 고딕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329184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134E4A"/>
                </a:solidFill>
                <a:latin typeface="맑은 고딕"/>
              </a:rPr>
              <a:t>백엔드 및 DB 구성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4206240"/>
            <a:ext cx="2194560" cy="0"/>
          </a:xfrm>
          <a:prstGeom prst="line">
            <a:avLst/>
          </a:prstGeom>
          <a:ln w="19050">
            <a:solidFill>
              <a:srgbClr val="EA58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94415" y="630936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EA580C"/>
                </a:solidFill>
                <a:latin typeface="맑은 고딕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A580C"/>
                </a:solidFill>
                <a:latin typeface="맑은 고딕"/>
              </a:rPr>
              <a:t>DATABASE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7724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b="1">
                <a:solidFill>
                  <a:srgbClr val="191F28"/>
                </a:solidFill>
                <a:latin typeface="Malgun Gothic"/>
              </a:defRPr>
            </a:pPr>
            <a:r>
              <a:t>데이터베이스 관계형 스키마 설계 (ERD)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554480"/>
            <a:ext cx="10881360" cy="0"/>
          </a:xfrm>
          <a:prstGeom prst="line">
            <a:avLst/>
          </a:prstGeom>
          <a:ln w="15875">
            <a:solidFill>
              <a:srgbClr val="B8D3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94415" y="630936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EA580C"/>
                </a:solidFill>
                <a:latin typeface="맑은 고딕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548640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91F28"/>
                </a:solidFill>
                <a:latin typeface="Malgun Gothic"/>
              </a:defRPr>
            </a:pPr>
            <a:r>
              <a:t>• User ── Reservation ── ReservationItem</a:t>
            </a:r>
          </a:p>
          <a:p>
            <a:pPr>
              <a:spcAft>
                <a:spcPts val="800"/>
              </a:spcAft>
              <a:defRPr sz="1500" b="0">
                <a:solidFill>
                  <a:srgbClr val="4E5968"/>
                </a:solidFill>
                <a:latin typeface="Malgun Gothic"/>
              </a:defRPr>
            </a:pPr>
            <a:r>
              <a:t>  - 3대 핵심 모델 간의 깔끔한 1:N 릴레이션 관계.</a:t>
            </a:r>
          </a:p>
          <a:p>
            <a:br/>
            <a:pPr>
              <a:spcAft>
                <a:spcPts val="800"/>
              </a:spcAft>
              <a:defRPr sz="1500" b="1">
                <a:solidFill>
                  <a:srgbClr val="191F28"/>
                </a:solidFill>
                <a:latin typeface="Malgun Gothic"/>
              </a:defRPr>
            </a:pPr>
            <a:r>
              <a:t>• 데이터 참조 무결성 확보</a:t>
            </a:r>
          </a:p>
          <a:p>
            <a:pPr>
              <a:spcAft>
                <a:spcPts val="800"/>
              </a:spcAft>
              <a:defRPr sz="1500" b="0">
                <a:solidFill>
                  <a:srgbClr val="4E5968"/>
                </a:solidFill>
                <a:latin typeface="Malgun Gothic"/>
              </a:defRPr>
            </a:pPr>
            <a:r>
              <a:t>  - Prisma Schema 파일 내에 Cascade Delete 외래키 규칙 명시.</a:t>
            </a:r>
          </a:p>
          <a:p>
            <a:pPr>
              <a:spcAft>
                <a:spcPts val="800"/>
              </a:spcAft>
              <a:defRPr sz="1500" b="0">
                <a:solidFill>
                  <a:srgbClr val="4E5968"/>
                </a:solidFill>
                <a:latin typeface="Malgun Gothic"/>
              </a:defRPr>
            </a:pPr>
            <a:r>
              <a:t>  - 예약 취소/물리 삭제 시, 해당 예약에 속했던 하위 주문 요리 품목들이 연쇄 삭제되어 쓰레기 데이터 누적 방지.</a:t>
            </a:r>
          </a:p>
        </p:txBody>
      </p:sp>
      <p:pic>
        <p:nvPicPr>
          <p:cNvPr id="7" name="Picture 6" descr="media__178416892898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828800"/>
            <a:ext cx="5212080" cy="228028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b="1">
                <a:solidFill>
                  <a:srgbClr val="191F28"/>
                </a:solidFill>
                <a:latin typeface="Malgun Gothic"/>
              </a:defRPr>
            </a:pPr>
            <a:r>
              <a:t>기술 스택 및 인프라 아키텍처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7724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b="1">
                <a:solidFill>
                  <a:srgbClr val="191F28"/>
                </a:solidFill>
                <a:latin typeface="Malgun Gothic"/>
              </a:defRPr>
            </a:pPr>
            <a:r>
              <a:t>기술 스택 및 인프라 아키텍처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554480"/>
            <a:ext cx="10881360" cy="0"/>
          </a:xfrm>
          <a:prstGeom prst="line">
            <a:avLst/>
          </a:prstGeom>
          <a:ln w="15875">
            <a:solidFill>
              <a:srgbClr val="B8D3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94415" y="630936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EA580C"/>
                </a:solidFill>
                <a:latin typeface="맑은 고딕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91F28"/>
                </a:solidFill>
                <a:latin typeface="Malgun Gothic"/>
              </a:defRPr>
            </a:pPr>
            <a:r>
              <a:t>• 프론트엔드 (Frontend)</a:t>
            </a:r>
          </a:p>
          <a:p>
            <a:pPr>
              <a:spcAft>
                <a:spcPts val="800"/>
              </a:spcAft>
              <a:defRPr sz="1500" b="0">
                <a:solidFill>
                  <a:srgbClr val="4E5968"/>
                </a:solidFill>
                <a:latin typeface="Malgun Gothic"/>
              </a:defRPr>
            </a:pPr>
            <a:r>
              <a:t>  - React 19, TypeScript, Vanilla CSS (리치 미세 애니메이션 및 컴포넌트 튜닝)</a:t>
            </a:r>
          </a:p>
          <a:p>
            <a:br/>
            <a:pPr>
              <a:spcAft>
                <a:spcPts val="800"/>
              </a:spcAft>
              <a:defRPr sz="1500" b="1">
                <a:solidFill>
                  <a:srgbClr val="191F28"/>
                </a:solidFill>
                <a:latin typeface="Malgun Gothic"/>
              </a:defRPr>
            </a:pPr>
            <a:r>
              <a:t>• 백엔드 및 인프라 (Backend &amp; Infrastructure)</a:t>
            </a:r>
          </a:p>
          <a:p>
            <a:pPr>
              <a:spcAft>
                <a:spcPts val="800"/>
              </a:spcAft>
              <a:defRPr sz="1500" b="0">
                <a:solidFill>
                  <a:srgbClr val="4E5968"/>
                </a:solidFill>
                <a:latin typeface="Malgun Gothic"/>
              </a:defRPr>
            </a:pPr>
            <a:r>
              <a:t>  - Next.js 16 (App Router &amp; Serverless Route Handlers API)</a:t>
            </a:r>
          </a:p>
          <a:p>
            <a:pPr>
              <a:spcAft>
                <a:spcPts val="800"/>
              </a:spcAft>
              <a:defRPr sz="1500" b="0">
                <a:solidFill>
                  <a:srgbClr val="4E5968"/>
                </a:solidFill>
                <a:latin typeface="Malgun Gothic"/>
              </a:defRPr>
            </a:pPr>
            <a:r>
              <a:t>  - Prisma ORM &amp; Supabase PostgreSQL (물리 원격 클라우드 DB 인프라)</a:t>
            </a:r>
          </a:p>
          <a:p>
            <a:br/>
            <a:pPr>
              <a:spcAft>
                <a:spcPts val="800"/>
              </a:spcAft>
              <a:defRPr sz="1500" b="1">
                <a:solidFill>
                  <a:srgbClr val="191F28"/>
                </a:solidFill>
                <a:latin typeface="Malgun Gothic"/>
              </a:defRPr>
            </a:pPr>
            <a:r>
              <a:t>• 인공지능 API (AI Inference API)</a:t>
            </a:r>
          </a:p>
          <a:p>
            <a:pPr>
              <a:spcAft>
                <a:spcPts val="800"/>
              </a:spcAft>
              <a:defRPr sz="1500" b="0">
                <a:solidFill>
                  <a:srgbClr val="4E5968"/>
                </a:solidFill>
                <a:latin typeface="Malgun Gothic"/>
              </a:defRPr>
            </a:pPr>
            <a:r>
              <a:t>  - GROQ SDK &amp; Llama-3.3 70B 모델 결합 (매장 동기화 컨텍스트 AI 챗봇)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926080"/>
            <a:ext cx="1828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EA580C"/>
                </a:solidFill>
                <a:latin typeface="맑은 고딕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329184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134E4A"/>
                </a:solidFill>
                <a:latin typeface="맑은 고딕"/>
              </a:rPr>
              <a:t>서비스 이용 시연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4206240"/>
            <a:ext cx="2194560" cy="0"/>
          </a:xfrm>
          <a:prstGeom prst="line">
            <a:avLst/>
          </a:prstGeom>
          <a:ln w="19050">
            <a:solidFill>
              <a:srgbClr val="EA58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94415" y="630936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EA580C"/>
                </a:solidFill>
                <a:latin typeface="맑은 고딕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A580C"/>
                </a:solidFill>
                <a:latin typeface="맑은 고딕"/>
              </a:rPr>
              <a:t>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7724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34E4A"/>
                </a:solidFill>
                <a:latin typeface="맑은 고딕"/>
              </a:rPr>
              <a:t>이용 시연 시나리오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554480"/>
            <a:ext cx="10881360" cy="0"/>
          </a:xfrm>
          <a:prstGeom prst="line">
            <a:avLst/>
          </a:prstGeom>
          <a:ln w="15875">
            <a:solidFill>
              <a:srgbClr val="B8D3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94415" y="630936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EA580C"/>
                </a:solidFill>
                <a:latin typeface="맑은 고딕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91F28"/>
                </a:solidFill>
                <a:latin typeface="Malgun Gothic"/>
              </a:defRPr>
            </a:pPr>
            <a:r>
              <a:t>• 시나리오 1. 실시간 중복 예약 방지 락 (Seat Lock)</a:t>
            </a:r>
          </a:p>
          <a:p>
            <a:pPr>
              <a:spcAft>
                <a:spcPts val="800"/>
              </a:spcAft>
              <a:defRPr sz="1400" b="0">
                <a:solidFill>
                  <a:srgbClr val="4E5968"/>
                </a:solidFill>
                <a:latin typeface="Malgun Gothic"/>
              </a:defRPr>
            </a:pPr>
            <a:r>
              <a:t>  - 특정 날짜와 시간대에 테이블(Table 1)을 예약 접수하는 즉시, 다른 세션에서 해당 좌석이 SeatMap 지도 상에서 회색 처리(비활성화)되어 중복 예약 충돌이 원천 방지되는 흐름 시연.</a:t>
            </a:r>
          </a:p>
          <a:p>
            <a:br/>
            <a:pPr>
              <a:spcAft>
                <a:spcPts val="800"/>
              </a:spcAft>
              <a:defRPr sz="1400" b="1">
                <a:solidFill>
                  <a:srgbClr val="191F28"/>
                </a:solidFill>
                <a:latin typeface="Malgun Gothic"/>
              </a:defRPr>
            </a:pPr>
            <a:r>
              <a:t>• 시나리오 2. 100% 매장 동기화 AI 챗봇</a:t>
            </a:r>
          </a:p>
          <a:p>
            <a:pPr>
              <a:spcAft>
                <a:spcPts val="800"/>
              </a:spcAft>
              <a:defRPr sz="1400" b="0">
                <a:solidFill>
                  <a:srgbClr val="4E5968"/>
                </a:solidFill>
                <a:latin typeface="Malgun Gothic"/>
              </a:defRPr>
            </a:pPr>
            <a:r>
              <a:t>  - 메뉴 명세, 6개 테이블 상세, 주차 가이드 등에 대해 실시간 자연어 질문 시, 백엔드 컨텍스트 연동으로 오류 없는 응대 시연.</a:t>
            </a:r>
          </a:p>
          <a:p>
            <a:br/>
            <a:pPr>
              <a:spcAft>
                <a:spcPts val="800"/>
              </a:spcAft>
              <a:defRPr sz="1400" b="1">
                <a:solidFill>
                  <a:srgbClr val="191F28"/>
                </a:solidFill>
                <a:latin typeface="Malgun Gothic"/>
              </a:defRPr>
            </a:pPr>
            <a:r>
              <a:t>• 시나리오 3. 사장님(어드민) 모드 실시간 삭제 &amp; 좌석 복원</a:t>
            </a:r>
          </a:p>
          <a:p>
            <a:pPr>
              <a:spcAft>
                <a:spcPts val="800"/>
              </a:spcAft>
              <a:defRPr sz="1400" b="0">
                <a:solidFill>
                  <a:srgbClr val="4E5968"/>
                </a:solidFill>
                <a:latin typeface="Malgun Gothic"/>
              </a:defRPr>
            </a:pPr>
            <a:r>
              <a:t>  - 어드민 뷰에서 수동 승인/거절 및 삭제 처리 시, 즉시 SeatMap에서 테이블 잠금이 풀려 신규 예약이 가능해지는 실시간 연계 시연.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