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3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9144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Malgun Gothic"/>
              </a:rPr>
              <a:t>L'AROME FINE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515600" cy="128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4800" b="1">
                <a:solidFill>
                  <a:srgbClr val="134E4A"/>
                </a:solidFill>
                <a:latin typeface="Malgun Gothic"/>
              </a:rPr>
              <a:t>라롬 식당 예약 및 AI 상담 플랫폼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3977639"/>
            <a:ext cx="292608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4160520"/>
            <a:ext cx="73152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134E4A"/>
                </a:solidFill>
                <a:latin typeface="Malgun Gothic"/>
              </a:rPr>
              <a:t>발표자: [이름]  ·  개발 프로젝트 완료 보고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Malgun Gothic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Malgun Gothic"/>
              </a:rPr>
              <a:t>목차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9728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400" b="1">
                <a:solidFill>
                  <a:srgbClr val="EA580C"/>
                </a:solidFill>
                <a:latin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56816"/>
            <a:ext cx="8229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34E4A"/>
                </a:solidFill>
                <a:latin typeface="Malgun Gothic"/>
              </a:rPr>
              <a:t>서비스 소개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2606040"/>
            <a:ext cx="9875520" cy="0"/>
          </a:xfrm>
          <a:prstGeom prst="line">
            <a:avLst/>
          </a:prstGeom>
          <a:ln w="12700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788920"/>
            <a:ext cx="109728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400" b="1">
                <a:solidFill>
                  <a:srgbClr val="EA580C"/>
                </a:solidFill>
                <a:latin typeface="Malgun Gothi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25496"/>
            <a:ext cx="8229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34E4A"/>
                </a:solidFill>
                <a:latin typeface="Malgun Gothic"/>
              </a:rPr>
              <a:t>서비스 구현 범위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3474720"/>
            <a:ext cx="9875520" cy="0"/>
          </a:xfrm>
          <a:prstGeom prst="line">
            <a:avLst/>
          </a:prstGeom>
          <a:ln w="12700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657600"/>
            <a:ext cx="109728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400" b="1">
                <a:solidFill>
                  <a:srgbClr val="EA580C"/>
                </a:solidFill>
                <a:latin typeface="Malgun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694176"/>
            <a:ext cx="8229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34E4A"/>
                </a:solidFill>
                <a:latin typeface="Malgun Gothic"/>
              </a:rPr>
              <a:t>서비스 UI 및 레퍼런스 (작업 프로세스)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4343400"/>
            <a:ext cx="9875520" cy="0"/>
          </a:xfrm>
          <a:prstGeom prst="line">
            <a:avLst/>
          </a:prstGeom>
          <a:ln w="12700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4526280"/>
            <a:ext cx="109728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400" b="1">
                <a:solidFill>
                  <a:srgbClr val="EA580C"/>
                </a:solidFill>
                <a:latin typeface="Malgun Gothic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562856"/>
            <a:ext cx="8229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34E4A"/>
                </a:solidFill>
                <a:latin typeface="Malgun Gothic"/>
              </a:rPr>
              <a:t>백엔드 및 DB 구성 (ERD)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5212080"/>
            <a:ext cx="9875520" cy="0"/>
          </a:xfrm>
          <a:prstGeom prst="line">
            <a:avLst/>
          </a:prstGeom>
          <a:ln w="12700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5394960"/>
            <a:ext cx="1097280" cy="640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400" b="1">
                <a:solidFill>
                  <a:srgbClr val="EA580C"/>
                </a:solidFill>
                <a:latin typeface="Malgun Gothic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431536"/>
            <a:ext cx="8229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34E4A"/>
                </a:solidFill>
                <a:latin typeface="Malgun Gothic"/>
              </a:rPr>
              <a:t>서비스 이용 시연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6080760"/>
            <a:ext cx="9875520" cy="0"/>
          </a:xfrm>
          <a:prstGeom prst="line">
            <a:avLst/>
          </a:prstGeom>
          <a:ln w="12700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Malgun Gothi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800" b="1">
                <a:solidFill>
                  <a:srgbClr val="134E4A"/>
                </a:solidFill>
                <a:latin typeface="Malgun Gothic"/>
              </a:rPr>
              <a:t>서비스 소개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206240"/>
            <a:ext cx="21945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Malgun Gothic"/>
              </a:rPr>
              <a:t>SERVICE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Malgun Gothic"/>
              </a:rPr>
              <a:t>기획 배경 및 해결하고자 하는 문제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34E4A"/>
                </a:solidFill>
                <a:latin typeface="Malgun Gothic"/>
              </a:defRPr>
            </a:pPr>
            <a:r>
              <a:t>• 현대인들의 예약 대기 피로도 극복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식당 입장을 위해 오랜 시간 현장에서 무작정 대기하는 비효율성을 해소합니다.</a:t>
            </a:r>
          </a:p>
          <a:p>
            <a:br/>
            <a:pPr>
              <a:spcAft>
                <a:spcPts val="800"/>
              </a:spcAft>
              <a:defRPr sz="1500" b="1">
                <a:solidFill>
                  <a:srgbClr val="134E4A"/>
                </a:solidFill>
                <a:latin typeface="Malgun Gothic"/>
              </a:defRPr>
            </a:pPr>
            <a:r>
              <a:t>• 파인다이닝의 예약 부도(No-Show) 차단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일정 확정과 세부 코스 메뉴 사전 선결제/선택을 유도하여 노쇼 리스크를 제로화합니다.</a:t>
            </a:r>
          </a:p>
          <a:p>
            <a:br/>
            <a:pPr>
              <a:spcAft>
                <a:spcPts val="800"/>
              </a:spcAft>
              <a:defRPr sz="1500" b="1">
                <a:solidFill>
                  <a:srgbClr val="134E4A"/>
                </a:solidFill>
                <a:latin typeface="Malgun Gothic"/>
              </a:defRPr>
            </a:pPr>
            <a:r>
              <a:t>• 테이블 불확실성 해소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고객이 선호하는 창가석, 룸 등의 실제 공간 위치를 지도 상에서 인지하여 현장 갈등을 극복합니다.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Malgun Gothic"/>
              </a:rPr>
              <a:t>SERVICE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Malgun Gothic"/>
              </a:rPr>
              <a:t>서비스 가치 및 제공 기능 개요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34E4A"/>
                </a:solidFill>
                <a:latin typeface="Malgun Gothic"/>
              </a:defRPr>
            </a:pPr>
            <a:r>
              <a:t>• 원스톱 미식 예약 여정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날짜/시간 지정 ➡️ 2D 좌석 지도 지정 ➡️ 코스 요리 메뉴 선택(장바구니) 및 모의 결제 연동.</a:t>
            </a:r>
          </a:p>
          <a:p>
            <a:br/>
            <a:pPr>
              <a:spcAft>
                <a:spcPts val="800"/>
              </a:spcAft>
              <a:defRPr sz="1500" b="1">
                <a:solidFill>
                  <a:srgbClr val="134E4A"/>
                </a:solidFill>
                <a:latin typeface="Malgun Gothic"/>
              </a:defRPr>
            </a:pPr>
            <a:r>
              <a:t>• 시각적 2D 좌석 배치도 (SeatMap)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매장의 창가석, 프라이빗 룸, 테라스 등 공간 배치를 입체적으로 확인하고 선점 가능한 환경 제공.</a:t>
            </a:r>
          </a:p>
          <a:p>
            <a:br/>
            <a:pPr>
              <a:spcAft>
                <a:spcPts val="800"/>
              </a:spcAft>
              <a:defRPr sz="1500" b="1">
                <a:solidFill>
                  <a:srgbClr val="134E4A"/>
                </a:solidFill>
                <a:latin typeface="Malgun Gothic"/>
              </a:defRPr>
            </a:pPr>
            <a:r>
              <a:t>• AI 컨시어지 상담 연계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매장 지식 데이터베이스와 유기적으로 소통하여 24시간 정확한 소비자 안내 제공.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Malgun Gothi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800" b="1">
                <a:solidFill>
                  <a:srgbClr val="134E4A"/>
                </a:solidFill>
                <a:latin typeface="Malgun Gothic"/>
              </a:rPr>
              <a:t>서비스 구현 범위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206240"/>
            <a:ext cx="21945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Malgun Gothic"/>
              </a:rPr>
              <a:t>DEVELOPMENT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Malgun Gothic"/>
              </a:rPr>
              <a:t>Client, Server, AI 구현 명세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34E4A"/>
                </a:solidFill>
                <a:latin typeface="Malgun Gothic"/>
              </a:defRPr>
            </a:pPr>
            <a:r>
              <a:t>• 클라이언트 (Client UI/UX)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모바일 반응형 뷰포트 기기 프레임 및 하단 Sticky 네비게이션 탭바 탑재.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- 3단계 예약 플로우 및 메뉴판 고정 스크롤 박스, 장바구니 총 금액 실시간 합산.</a:t>
            </a:r>
          </a:p>
          <a:p>
            <a:br/>
            <a:pPr>
              <a:spcAft>
                <a:spcPts val="800"/>
              </a:spcAft>
              <a:defRPr sz="1400" b="1">
                <a:solidFill>
                  <a:srgbClr val="134E4A"/>
                </a:solidFill>
                <a:latin typeface="Malgun Gothic"/>
              </a:defRPr>
            </a:pPr>
            <a:r>
              <a:t>• 백엔드 서버 (Backend API &amp; Admin)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Next.js API Routes 기반 유저 회원가입/로그인 및 인증 관리 API.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날짜/시간대별 실시간 예약 테이블 점유 조회 및 중복 선점 차단 락 API.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관리자 전용 데스크톱 가로 뷰포트 대시보드 및 예약 승인/거절/영구 삭제 API.</a:t>
            </a:r>
          </a:p>
          <a:p>
            <a:br/>
            <a:pPr>
              <a:spcAft>
                <a:spcPts val="800"/>
              </a:spcAft>
              <a:defRPr sz="1400" b="1">
                <a:solidFill>
                  <a:srgbClr val="134E4A"/>
                </a:solidFill>
                <a:latin typeface="Malgun Gothic"/>
              </a:defRPr>
            </a:pPr>
            <a:r>
              <a:t>• 인공지능 (AI Scope)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GROQ SDK 및 Llama-3.3 70B LLM 서버 연동 매장 자동화 상담 챗봇.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Malgun Gothi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800" b="1">
                <a:solidFill>
                  <a:srgbClr val="134E4A"/>
                </a:solidFill>
                <a:latin typeface="Malgun Gothic"/>
              </a:rPr>
              <a:t>서비스 UI 및 레퍼런스 (작업 프로세스)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206240"/>
            <a:ext cx="21945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Malgun Gothic"/>
              </a:rPr>
              <a:t>UI &amp;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Malgun Gothic"/>
              </a:rPr>
              <a:t>TOSS 디자인 스타일 및 애자일 작업 프로세스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858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34E4A"/>
                </a:solidFill>
                <a:latin typeface="Malgun Gothic"/>
              </a:defRPr>
            </a:pPr>
            <a:r>
              <a:t>• 토스(TOSS) UI 디자인 스타일 계승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군더더기 없는 플랫 둥근 카드 레이아웃과 명료한 Toss Blue 테마 적용.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모바일 환경에서의 엄지 영역 접근성(하단 네비게이션 가이드) 극대화.</a:t>
            </a:r>
          </a:p>
          <a:p>
            <a:br/>
            <a:pPr>
              <a:spcAft>
                <a:spcPts val="800"/>
              </a:spcAft>
              <a:defRPr sz="1400" b="1">
                <a:solidFill>
                  <a:srgbClr val="134E4A"/>
                </a:solidFill>
                <a:latin typeface="Malgun Gothic"/>
              </a:defRPr>
            </a:pPr>
            <a:r>
              <a:t>• 기민한(Agile) 점진적 작업 프로세스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DB 관계 모델링 ➡️ 핵심 예약 모듈 빌드 ➡️ AI 챗봇 연동 및 고도화.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영화 예매 도메인 피드백 수렴 후 식당 예약 뼈대로 신속히 원상 복구 및 컨텍스트 동기화 수행.</a:t>
            </a:r>
          </a:p>
        </p:txBody>
      </p:sp>
      <p:pic>
        <p:nvPicPr>
          <p:cNvPr id="7" name="Picture 6" descr="temp_toss_ref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0"/>
            <a:ext cx="3474720" cy="75198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Malgun Gothi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800" b="1">
                <a:solidFill>
                  <a:srgbClr val="134E4A"/>
                </a:solidFill>
                <a:latin typeface="Malgun Gothic"/>
              </a:rPr>
              <a:t>백엔드 및 DB 구성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206240"/>
            <a:ext cx="21945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Malgun Gothic"/>
              </a:rPr>
              <a:t>BACKEND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Malgun Gothic"/>
              </a:rPr>
              <a:t>Next.js API Routes 및 AI 추론 연동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34E4A"/>
                </a:solidFill>
                <a:latin typeface="Malgun Gothic"/>
              </a:defRPr>
            </a:pPr>
            <a:r>
              <a:t>• RESTful API API Routes 설계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`/api/auth/login` &amp; `/api/auth/signup`: 인증 및 세션 토큰 제어.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`/api/reservations`: 날짜/시간대 선택에 따른 좌석 실시간 예약 상태 체크 및 POST 접수.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`/api/reservations/[id]`: 어드민 모드 예약 승인/거절 상태 변경 및 완전 Cascade 삭제.</a:t>
            </a:r>
          </a:p>
          <a:p>
            <a:br/>
            <a:pPr>
              <a:spcAft>
                <a:spcPts val="800"/>
              </a:spcAft>
              <a:defRPr sz="1500" b="1">
                <a:solidFill>
                  <a:srgbClr val="134E4A"/>
                </a:solidFill>
                <a:latin typeface="Malgun Gothic"/>
              </a:defRPr>
            </a:pPr>
            <a:r>
              <a:t>• AI 추론 API (`/api/chat`) 연계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브라우저 클라이언트가 아닌 Node.js 백엔드 환경에서 GROQ API와 통신하여 API Key 유출 방지.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시스템 프롬프트(식당 정보 100% 동기화)를 내부 바인딩하여 안전성 극대화.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Malgun Gothic"/>
              </a:rPr>
              <a:t>DATABASE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Malgun Gothic"/>
              </a:rPr>
              <a:t>Prisma &amp; Supabase DB 관계 모델링 (ERD)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34E4A"/>
                </a:solidFill>
                <a:latin typeface="Malgun Gothic"/>
              </a:defRPr>
            </a:pPr>
            <a:r>
              <a:t>• Prisma ORM &amp; Supabase Postgres 결합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데이터 신뢰성과 관계 무결성을 확보한 PostgreSQL 클라우드 DB 연동.</a:t>
            </a:r>
          </a:p>
          <a:p>
            <a:br/>
            <a:pPr>
              <a:spcAft>
                <a:spcPts val="800"/>
              </a:spcAft>
              <a:defRPr sz="1500" b="1">
                <a:solidFill>
                  <a:srgbClr val="134E4A"/>
                </a:solidFill>
                <a:latin typeface="Malgun Gothic"/>
              </a:defRPr>
            </a:pPr>
            <a:r>
              <a:t>• 외래키 관계 및 연쇄 삭제 (Cascade Delete)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User, Reservation, ReservationItem 간의 1:N 구조 설정.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부모 예약 레코드 삭제 시 자식 주문 요리 품목들이 연쇄 삭제되어 쓰레기 데이터 방지.</a:t>
            </a:r>
          </a:p>
        </p:txBody>
      </p:sp>
      <p:pic>
        <p:nvPicPr>
          <p:cNvPr id="7" name="Picture 6" descr="media__17841689289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212080" cy="22802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8288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Malgun Gothi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800" b="1">
                <a:solidFill>
                  <a:srgbClr val="134E4A"/>
                </a:solidFill>
                <a:latin typeface="Malgun Gothic"/>
              </a:rPr>
              <a:t>서비스 이용 시연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206240"/>
            <a:ext cx="2194560" cy="0"/>
          </a:xfrm>
          <a:prstGeom prst="line">
            <a:avLst/>
          </a:prstGeom>
          <a:ln w="190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Malgun Gothic"/>
              </a:rPr>
              <a:t>DEMO SCENARIO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Malgun Gothic"/>
              </a:rPr>
              <a:t>실시간 테이블 선점 락 &amp; 중복 예약 방지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34E4A"/>
                </a:solidFill>
                <a:latin typeface="Malgun Gothic"/>
              </a:defRPr>
            </a:pPr>
            <a:r>
              <a:t>• 일정/시간 선택 즉시 예약 상태 체크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사용자가 디너 타임 일정을 결정하는 순간 서버 API가 동적으로 작동하여 점유 테이블 ID를 리턴합니다.</a:t>
            </a:r>
          </a:p>
          <a:p>
            <a:br/>
            <a:pPr>
              <a:spcAft>
                <a:spcPts val="800"/>
              </a:spcAft>
              <a:defRPr sz="1500" b="1">
                <a:solidFill>
                  <a:srgbClr val="134E4A"/>
                </a:solidFill>
                <a:latin typeface="Malgun Gothic"/>
              </a:defRPr>
            </a:pPr>
            <a:r>
              <a:t>• SeatMap 좌석 비활성화 동적 락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이미 예약된 테이블(Table 1~6)은 화면 상에서 회색 처리(비활성화)되어 마우스/터치 선택이 불가능해집니다.</a:t>
            </a:r>
          </a:p>
          <a:p>
            <a:br/>
            <a:pPr>
              <a:spcAft>
                <a:spcPts val="800"/>
              </a:spcAft>
              <a:defRPr sz="1500" b="1">
                <a:solidFill>
                  <a:srgbClr val="134E4A"/>
                </a:solidFill>
                <a:latin typeface="Malgun Gothic"/>
              </a:defRPr>
            </a:pPr>
            <a:r>
              <a:t>• DB 트랜잭션 충돌 차단</a:t>
            </a:r>
          </a:p>
          <a:p>
            <a:pPr>
              <a:spcAft>
                <a:spcPts val="800"/>
              </a:spcAft>
              <a:defRPr sz="1500" b="0">
                <a:solidFill>
                  <a:srgbClr val="4E5968"/>
                </a:solidFill>
                <a:latin typeface="Malgun Gothic"/>
              </a:defRPr>
            </a:pPr>
            <a:r>
              <a:t>  - 다중 사용자의 동시 좌석 선점 오류를 원천 차단하여 안전한 예약 접수를 처리합니다.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Malgun Gothic"/>
              </a:rPr>
              <a:t>DEMO SCENARIO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000" b="1">
                <a:solidFill>
                  <a:srgbClr val="134E4A"/>
                </a:solidFill>
                <a:latin typeface="Malgun Gothic"/>
              </a:rPr>
              <a:t>AI 상담 챗봇 &amp; 어드민 삭제 실시간 복원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554480"/>
            <a:ext cx="10881360" cy="0"/>
          </a:xfrm>
          <a:prstGeom prst="line">
            <a:avLst/>
          </a:prstGeom>
          <a:ln w="15875">
            <a:solidFill>
              <a:srgbClr val="B8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34E4A"/>
                </a:solidFill>
                <a:latin typeface="Malgun Gothic"/>
              </a:defRPr>
            </a:pPr>
            <a:r>
              <a:t>• 매장 스펙 100% 동기화 AI 컨시어지 챗봇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실제 코스 메뉴(스테이크 등), 좌석 성격, 주차 정보 등에 대해 GROQ Llama-3.3 LLM을 통해 정교한 응대 제공.</a:t>
            </a:r>
          </a:p>
          <a:p>
            <a:br/>
            <a:pPr>
              <a:spcAft>
                <a:spcPts val="800"/>
              </a:spcAft>
              <a:defRPr sz="1400" b="1">
                <a:solidFill>
                  <a:srgbClr val="134E4A"/>
                </a:solidFill>
                <a:latin typeface="Malgun Gothic"/>
              </a:defRPr>
            </a:pPr>
            <a:r>
              <a:t>• 어드민 예약 처리 연동 실시간 좌석 복원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사장님이 어드민 모드에서 승인 예약 취소(Cascade 완전 물리 삭제)를 누르는 순간 DB가 클리어링됩니다.</a:t>
            </a:r>
          </a:p>
          <a:p>
            <a:pPr>
              <a:spcAft>
                <a:spcPts val="800"/>
              </a:spcAft>
              <a:defRPr sz="1400" b="0">
                <a:solidFill>
                  <a:srgbClr val="4E5968"/>
                </a:solidFill>
                <a:latin typeface="Malgun Gothic"/>
              </a:defRPr>
            </a:pPr>
            <a:r>
              <a:t>  - 삭제와 즉시 SeatMap 상에서 해당 좌석 비활성화 락이 즉시 해제되어 다시 예약 가능 상태로 복원됩니다.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4400" b="1">
                <a:solidFill>
                  <a:srgbClr val="134E4A"/>
                </a:solidFill>
                <a:latin typeface="Malgun Gothic"/>
              </a:rPr>
              <a:t>경청해 주셔서 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Malgun Gothic"/>
              </a:rPr>
              <a:t>L'AROME Fine Dining 예약 플랫폼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EA580C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