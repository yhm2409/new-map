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182F6"/>
                </a:solidFill>
                <a:latin typeface="Malgun Gothic"/>
              </a:defRPr>
            </a:pPr>
            <a:r>
              <a:t>L'AROME Fine Dining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91F28"/>
                </a:solidFill>
                <a:latin typeface="Malgun Gothic"/>
              </a:defRPr>
            </a:pPr>
            <a:r>
              <a:t>라롬 (L'AROME) 식당 예약 및 AI 상담 플랫폼</a:t>
            </a:r>
          </a:p>
          <a:p>
            <a:br/>
            <a:pPr>
              <a:defRPr sz="1800" b="1">
                <a:solidFill>
                  <a:srgbClr val="4E5968"/>
                </a:solidFill>
                <a:latin typeface="Malgun Gothic"/>
              </a:defRPr>
            </a:pPr>
            <a:r>
              <a:t>식당 메뉴와 시간을 사전에 조율하여 예약하는 스마트 모바일 웹앱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1F28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5A1"/>
                </a:solidFill>
                <a:latin typeface="Malgun Gothic"/>
              </a:defRPr>
            </a:pPr>
            <a: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1. 서비스 소개 - 식당 사전 예약 플랫폼의 목적 및 필요성</a:t>
            </a:r>
          </a:p>
          <a:p>
            <a:pPr>
              <a:spcAft>
                <a:spcPts val="1200"/>
              </a:spcAft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2. 서비스 구현 범위 - Client, Server, AI 가용 범위 개괄</a:t>
            </a:r>
          </a:p>
          <a:p>
            <a:pPr>
              <a:spcAft>
                <a:spcPts val="1200"/>
              </a:spcAft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3. 서비스 UI 및 레퍼런스 - TOSS 디자인 상속 및 작업 프로세스</a:t>
            </a:r>
          </a:p>
          <a:p>
            <a:pPr>
              <a:spcAft>
                <a:spcPts val="1200"/>
              </a:spcAft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4. 백엔드 구성 - Next.js Route Handlers 및 보안 인증 관리 API</a:t>
            </a:r>
          </a:p>
          <a:p>
            <a:pPr>
              <a:spcAft>
                <a:spcPts val="1200"/>
              </a:spcAft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5. DB 구성 (ERD) - Supabase PostgreSQL 관계형 스키마 설계</a:t>
            </a:r>
          </a:p>
          <a:p>
            <a:pPr>
              <a:spcAft>
                <a:spcPts val="1200"/>
              </a:spcAft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6. 서비스 이용 시연 - 실시간 2D 테이블 선점 및 중복 예약 방지</a:t>
            </a:r>
          </a:p>
          <a:p>
            <a:pPr>
              <a:spcAft>
                <a:spcPts val="1200"/>
              </a:spcAft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7. 서비스 이용 시연 - AI 레스토랑 컨시어지 챗봇 자동화 상담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1F28"/>
                </a:solidFill>
                <a:latin typeface="Malgun Gothic"/>
              </a:defRPr>
            </a:pPr>
            <a:r>
              <a:t>1. 서비스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5A1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식당 메뉴와 시간을 미리 예약하고 조율하는 모바일 플랫폼</a:t>
            </a:r>
          </a:p>
          <a:p>
            <a:pPr>
              <a:spcAft>
                <a:spcPts val="2000"/>
              </a:spcAft>
              <a:defRPr sz="1500">
                <a:solidFill>
                  <a:srgbClr val="4E5968"/>
                </a:solidFill>
                <a:latin typeface="Malgun Gothic"/>
              </a:defRPr>
            </a:pPr>
            <a:r>
              <a:t>   - 바쁜 현대인들의 방문 대기 시간을 줄이고 노쇼(No-Show)를 방지하는 실질적 가치 창출.</a:t>
            </a:r>
            <a:br/>
            <a:r>
              <a:t>   - 소비자는 사전 예약을 통해 기다림 없는 미식을 즐기고, 가맹점은 효율적으로 테이블 회전율을 조율할 수 있습니다.</a:t>
            </a:r>
          </a:p>
          <a:p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메뉴 및 일정 사전 선택의 이점</a:t>
            </a:r>
          </a:p>
          <a:p>
            <a:pPr>
              <a:defRPr sz="1500">
                <a:solidFill>
                  <a:srgbClr val="4E5968"/>
                </a:solidFill>
                <a:latin typeface="Malgun Gothic"/>
              </a:defRPr>
            </a:pPr>
            <a:r>
              <a:t>   - 방문 날짜, 디너 타임, 상세 코스 요리까지 웹앱을 통해 미리 조율 완료.</a:t>
            </a:r>
            <a:br/>
            <a:r>
              <a:t>   - 매장 입장 후 추가 주문이나 대기 없이 사전에 확정된 파인다이닝 코스가 자연스럽게 서빙되는 프리미엄 동선 제공.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1F28"/>
                </a:solidFill>
                <a:latin typeface="Malgun Gothic"/>
              </a:defRPr>
            </a:pPr>
            <a:r>
              <a:t>2. 서비스 구현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5A1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• 클라이언트 환경 (Client Scope)</a:t>
            </a:r>
          </a:p>
          <a:p>
            <a:pPr>
              <a:spcAft>
                <a:spcPts val="1500"/>
              </a:spcAft>
              <a:defRPr sz="1400">
                <a:solidFill>
                  <a:srgbClr val="4E5968"/>
                </a:solidFill>
                <a:latin typeface="Malgun Gothic"/>
              </a:defRPr>
            </a:pPr>
            <a:r>
              <a:t>   - **모바일 앱 뷰포트**: 480px 섀도우 기기 프레임 적용으로 스마트폰 접속 시 화면에 최적 핏팅되는 레이아웃.</a:t>
            </a:r>
            <a:br/>
            <a:r>
              <a:t>   - **예약 3단계 흐름**: 일정/인원 선택 ➡️ 2D 테이블 좌석 지정 ➡️ 코스 요리 메뉴 선택(장바구니) 및 모의 결제창 연동.</a:t>
            </a:r>
            <a:br/>
            <a:r>
              <a:t>   - **Sticky 하단 네비게이션**: 예약 홈, 내 예약 현황, AI 챗봇 3대 탭 동적 스위칭 구현.</a:t>
            </a:r>
          </a:p>
          <a:p>
            <a:pPr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• 백엔드 및 관리자 대시보드 (Server &amp; Admin Scope)</a:t>
            </a:r>
          </a:p>
          <a:p>
            <a:pPr>
              <a:defRPr sz="1400">
                <a:solidFill>
                  <a:srgbClr val="4E5968"/>
                </a:solidFill>
                <a:latin typeface="Malgun Gothic"/>
              </a:defRPr>
            </a:pPr>
            <a:r>
              <a:t>   - **Next.js API Routes**: 인증(Auth), 예약 및 주문 내역, 좌석 실시간 예약 상태 제공 백엔드 핸들러.</a:t>
            </a:r>
            <a:br/>
            <a:r>
              <a:t>   - **사장님 대시보드 (어드민)**: 데스크톱 가로 모드 해상도 반응형 제공. 예약 건 승인, 반려 및 Cascade 물리 영구 삭제 처리.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1F28"/>
                </a:solidFill>
                <a:latin typeface="Malgun Gothic"/>
              </a:defRPr>
            </a:pPr>
            <a:r>
              <a:t>3. 서비스 UI 및 레퍼런스 (작업 프로세스)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5A1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• 토스(TOSS) 디자인 레퍼런스 지향</a:t>
            </a:r>
          </a:p>
          <a:p>
            <a:pPr>
              <a:spcAft>
                <a:spcPts val="1500"/>
              </a:spcAft>
              <a:defRPr sz="1300">
                <a:solidFill>
                  <a:srgbClr val="4E5968"/>
                </a:solidFill>
                <a:latin typeface="Malgun Gothic"/>
              </a:defRPr>
            </a:pPr>
            <a:r>
              <a:t>   - 명료한 블루(#3182f6)를 메인 색상으로 차용해 깔끔하고 웅장한 가독성 확보.</a:t>
            </a:r>
            <a:br/>
            <a:r>
              <a:t>   - 플랫한 둥근 카드 레이아웃과 맑은 디자인 컴포넌트 결합.</a:t>
            </a:r>
            <a:br/>
            <a:r>
              <a:t>   - 높이가 제한된 모바일 앱 화면 내에서 메뉴판 스크롤과 카드를 상하 2단 배치해 공간 효율을 최대화했습니다.</a:t>
            </a:r>
          </a:p>
          <a:p>
            <a:pPr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• Iterative (점진적) 개발 프로세스</a:t>
            </a:r>
          </a:p>
          <a:p>
            <a:pPr>
              <a:defRPr sz="1300">
                <a:solidFill>
                  <a:srgbClr val="4E5968"/>
                </a:solidFill>
                <a:latin typeface="Malgun Gothic"/>
              </a:defRPr>
            </a:pPr>
            <a:r>
              <a:t>   - 1단계: DB 스키마 설계 및 Prisma 배포 ➡️ 2단계: 모바일 예약 동선 구현 ➡️ 3단계: AI 챗봇 탑재 ➡️ 4단계: 피드백 반영 롤백.</a:t>
            </a:r>
            <a:br/>
            <a:r>
              <a:t>   - 영화 예매 도메인 전환 피드백을 접수하고, 식당 예약 뼈대로 신속히 원상 복구 및 동기화하는 기민한(Agile) 대처 프로세스를 수행했습니다.</a:t>
            </a:r>
          </a:p>
        </p:txBody>
      </p:sp>
      <p:pic>
        <p:nvPicPr>
          <p:cNvPr id="5" name="Picture 4" descr="temp_toss_re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3474720" cy="75198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1F28"/>
                </a:solidFill>
                <a:latin typeface="Malgun Gothic"/>
              </a:defRPr>
            </a:pPr>
            <a:r>
              <a:t>4. 백엔드 구성 (Backend Architecture)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5A1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Next.js App Router API Routes 설계</a:t>
            </a:r>
          </a:p>
          <a:p>
            <a:pPr>
              <a:spcAft>
                <a:spcPts val="2000"/>
              </a:spcAft>
              <a:defRPr sz="1400">
                <a:solidFill>
                  <a:srgbClr val="4E5968"/>
                </a:solidFill>
                <a:latin typeface="Malgun Gothic"/>
              </a:defRPr>
            </a:pPr>
            <a:r>
              <a:t>   - **`/api/auth/login` &amp; `/api/auth/signup`**: 암호화 및 유저 인증 관리 엔드포인트.</a:t>
            </a:r>
            <a:br/>
            <a:r>
              <a:t>   - **`/api/reservations`**: POST 호출 시 DB 트랜잭션을 작동하여 좌석의 동시 예약을 원천 제어.</a:t>
            </a:r>
            <a:br/>
            <a:r>
              <a:t>   - **`/api/reservations/my` &amp; `/api/reservations/admin`**: 유저 고유 ID 기준 예약 조회 및 전체 대시보드 리스트 출력 API.</a:t>
            </a:r>
            <a:br/>
            <a:r>
              <a:t>   - **`/api/reservations/[id]`**: PATCH(상태변경: 승인/거절) 및 DELETE(예약 물리 완전 Cascade 삭제) 처리.</a:t>
            </a:r>
          </a:p>
          <a:p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AI 추론 연동 라우트 (`/api/chat`)</a:t>
            </a:r>
          </a:p>
          <a:p>
            <a:pPr>
              <a:defRPr sz="1400">
                <a:solidFill>
                  <a:srgbClr val="4E5968"/>
                </a:solidFill>
                <a:latin typeface="Malgun Gothic"/>
              </a:defRPr>
            </a:pPr>
            <a:r>
              <a:t>   - 클라이언트에서 전송된 채팅 히스토리를 받아 서버사이드에서 GROQ API에 위임 처리.</a:t>
            </a:r>
            <a:br/>
            <a:r>
              <a:t>   - API Key 노출을 원천 방지하기 위해 클라이언트가 아닌 Next.js Server Side에서 안전하게 API Key와 System Prompt를 병합하여 통신.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1F28"/>
                </a:solidFill>
                <a:latin typeface="Malgun Gothic"/>
              </a:defRPr>
            </a:pPr>
            <a:r>
              <a:t>5. DB 구성 (ERD)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5A1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• Prisma ORM 5 &amp; Supabase DB 결합</a:t>
            </a:r>
          </a:p>
          <a:p>
            <a:pPr>
              <a:spcAft>
                <a:spcPts val="1500"/>
              </a:spcAft>
              <a:defRPr sz="1300">
                <a:solidFill>
                  <a:srgbClr val="4E5968"/>
                </a:solidFill>
                <a:latin typeface="Malgun Gothic"/>
              </a:defRPr>
            </a:pPr>
            <a:r>
              <a:t>   - Supabase PostgreSQL 클라우드 원격 연결 구조로 데이터 신뢰성 확보.</a:t>
            </a:r>
            <a:br/>
            <a:r>
              <a:t>   - 특수 문자(#, %) URL 인코딩 처리를 거친 DATABASE_URL 환경 변수로 연결 안정화.</a:t>
            </a:r>
          </a:p>
          <a:p>
            <a:pPr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• 테이블 설계 및 Cascade 제약</a:t>
            </a:r>
          </a:p>
          <a:p>
            <a:pPr>
              <a:defRPr sz="1300">
                <a:solidFill>
                  <a:srgbClr val="4E5968"/>
                </a:solidFill>
                <a:latin typeface="Malgun Gothic"/>
              </a:defRPr>
            </a:pPr>
            <a:r>
              <a:t>   - **User 테이블**: id(PK), loginId, name, password, role(관리자/사용자 구분) 관리.</a:t>
            </a:r>
            <a:br/>
            <a:r>
              <a:t>   - **Reservation 테이블**: id(PK), userId(FK), 날짜, 시간, 지정된 테이블 식별자(tableId) 보관.</a:t>
            </a:r>
            <a:br/>
            <a:r>
              <a:t>   - **ReservationItem 테이블**: id(PK), reservationId(FK), 요리 품목 가격 및 주문 수량 관리.</a:t>
            </a:r>
            <a:br/>
            <a:r>
              <a:t>   - 어드민 단에서 예약을 삭제(DELETE)하면 연결된 ReservationItem 레코드가 Cascade Delete 룰에 의해 안전하게 연쇄 자동 소멸.</a:t>
            </a:r>
          </a:p>
        </p:txBody>
      </p:sp>
      <p:pic>
        <p:nvPicPr>
          <p:cNvPr id="5" name="Picture 4" descr="media__17841689289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1F28"/>
                </a:solidFill>
                <a:latin typeface="Malgun Gothic"/>
              </a:defRPr>
            </a:pPr>
            <a:r>
              <a:t>6. 서비스 이용 시연 (실시간 중복 예약 방지)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5A1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날짜 및 시간대별 실시간 좌석 점유 상태 조회</a:t>
            </a:r>
          </a:p>
          <a:p>
            <a:pPr>
              <a:spcAft>
                <a:spcPts val="2000"/>
              </a:spcAft>
              <a:defRPr sz="1500">
                <a:solidFill>
                  <a:srgbClr val="4E5968"/>
                </a:solidFill>
                <a:latin typeface="Malgun Gothic"/>
              </a:defRPr>
            </a:pPr>
            <a:r>
              <a:t>   - 예약 일정 단계에서 날짜와 디너 시간대를 클릭해 변경하는 즉시 `fetchReservedTables` API가 작동.</a:t>
            </a:r>
            <a:br/>
            <a:r>
              <a:t>   - 해당 슬롯에 이미 완료된 예약이 존재하는 좌석 테이블 ID 목록을 데이터베이스로부터 정확하게 호출합니다.</a:t>
            </a:r>
          </a:p>
          <a:p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SeatMap 좌석 비활성화 및 동시 예약 차단</a:t>
            </a:r>
          </a:p>
          <a:p>
            <a:pPr>
              <a:defRPr sz="1500">
                <a:solidFill>
                  <a:srgbClr val="4E5968"/>
                </a:solidFill>
                <a:latin typeface="Malgun Gothic"/>
              </a:defRPr>
            </a:pPr>
            <a:r>
              <a:t>   - 이미 선점된 좌석 테이블(Table 1~6)은 SeatMap에서 연회색 비활성화 상태로 락 처리되어 마우스/터치 선택이 불가능.</a:t>
            </a:r>
            <a:br/>
            <a:r>
              <a:t>   - DB 트랜잭션 수준에서 동시 접수 충돌을 완벽 제어하여 1테이블당 중복 예약을 원천적으로 방지합니다.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1F28"/>
                </a:solidFill>
                <a:latin typeface="Malgun Gothic"/>
              </a:defRPr>
            </a:pPr>
            <a:r>
              <a:t>6. 서비스 이용 시연 (AI 레스토랑 챗봇)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5A1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GROQ Llama-3.3 기반 식당 정보 100% 동기화 상담</a:t>
            </a:r>
          </a:p>
          <a:p>
            <a:pPr>
              <a:spcAft>
                <a:spcPts val="2000"/>
              </a:spcAft>
              <a:defRPr sz="1500">
                <a:solidFill>
                  <a:srgbClr val="4E5968"/>
                </a:solidFill>
                <a:latin typeface="Malgun Gothic"/>
              </a:defRPr>
            </a:pPr>
            <a:r>
              <a:t>   - 예매 웹 폼 상에 실제 표시되는 요리 정보(아란치니, 한우 스테이크 등) 및 6개 테이블의 특징(창가석, 룸 등), 무료 발레파킹 혜택을 챗봇의 지식 컨텍스트에 고스란히 이식.</a:t>
            </a:r>
            <a:br/>
            <a:r>
              <a:t>   - 소비자가 창가석이나 주차 요금, 메뉴 종류에 대해 물어보면 매장의 실제 세부 사양과 완벽히 동기화된 일관성 있는 답변을 산출합니다.</a:t>
            </a:r>
          </a:p>
          <a:p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어드민 예약 처리 연동 실시간 동기화</a:t>
            </a:r>
          </a:p>
          <a:p>
            <a:pPr>
              <a:defRPr sz="1500">
                <a:solidFill>
                  <a:srgbClr val="4E5968"/>
                </a:solidFill>
                <a:latin typeface="Malgun Gothic"/>
              </a:defRPr>
            </a:pPr>
            <a:r>
              <a:t>   - 사장님이 어드민 모드에서 승인 완료된 예약을 영구 삭제 시, 데이터베이스 물리 제거와 동시에 고객의 내 예약 확인 탭에서도 실시간 삭제 처리 연계.</a:t>
            </a:r>
            <a:br/>
            <a:r>
              <a:t>   - 삭제와 동시에 해당 좌석 락이 즉각 해제되어 SeatMap 상에서 실시간으로 다시 예약 가능 상태로 복구됩니다.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182F6"/>
                </a:solidFill>
                <a:latin typeface="Malgun Gothic"/>
              </a:defRPr>
            </a:pPr>
            <a:r>
              <a:t>경청해 주셔서 감사합니다</a:t>
            </a:r>
          </a:p>
          <a:p>
            <a:br/>
            <a:pPr>
              <a:defRPr sz="2000" b="1">
                <a:solidFill>
                  <a:srgbClr val="4E5968"/>
                </a:solidFill>
                <a:latin typeface="Malgun Gothic"/>
              </a:defRPr>
            </a:pPr>
            <a:r>
              <a:t>라롬 (L'AROME) 식당 예약 및 AI 상담 플랫폼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