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34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A580C"/>
                </a:solidFill>
                <a:latin typeface="맑은 고딕"/>
              </a:rPr>
              <a:t>MY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3464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134E4A"/>
                </a:solidFill>
                <a:latin typeface="맑은 고딕"/>
              </a:rPr>
              <a:t>나만의 서비스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4069080"/>
            <a:ext cx="2926080" cy="0"/>
          </a:xfrm>
          <a:prstGeom prst="line">
            <a:avLst/>
          </a:prstGeom>
          <a:ln w="1905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425196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34E4A"/>
                </a:solidFill>
                <a:latin typeface="맑은 고딕"/>
              </a:rPr>
              <a:t>[이름]  ·  [발표일]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A580C"/>
                </a:solidFill>
                <a:latin typeface="맑은 고딕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4E4A"/>
                </a:solidFill>
                <a:latin typeface="맑은 고딕"/>
              </a:rPr>
              <a:t>목차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554480"/>
            <a:ext cx="10881360" cy="0"/>
          </a:xfrm>
          <a:prstGeom prst="line">
            <a:avLst/>
          </a:prstGeom>
          <a:ln w="15875">
            <a:solidFill>
              <a:srgbClr val="B8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4415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EA580C"/>
                </a:solidFill>
                <a:latin typeface="맑은 고딕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EA580C"/>
                </a:solidFill>
                <a:latin typeface="맑은 고딕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993392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34E4A"/>
                </a:solidFill>
                <a:latin typeface="맑은 고딕"/>
              </a:rPr>
              <a:t>서비스 소개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2587752"/>
            <a:ext cx="9875520" cy="0"/>
          </a:xfrm>
          <a:prstGeom prst="line">
            <a:avLst/>
          </a:prstGeom>
          <a:ln w="12700">
            <a:solidFill>
              <a:srgbClr val="B8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2743200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EA580C"/>
                </a:solidFill>
                <a:latin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770632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34E4A"/>
                </a:solidFill>
                <a:latin typeface="맑은 고딕"/>
              </a:rPr>
              <a:t>서비스 구현 범위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" y="3364992"/>
            <a:ext cx="9875520" cy="0"/>
          </a:xfrm>
          <a:prstGeom prst="line">
            <a:avLst/>
          </a:prstGeom>
          <a:ln w="12700">
            <a:solidFill>
              <a:srgbClr val="B8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20" y="3520440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EA580C"/>
                </a:solidFill>
                <a:latin typeface="맑은 고딕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547872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34E4A"/>
                </a:solidFill>
                <a:latin typeface="맑은 고딕"/>
              </a:rPr>
              <a:t>서비스 UI 및 레퍼런스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" y="4142232"/>
            <a:ext cx="9875520" cy="0"/>
          </a:xfrm>
          <a:prstGeom prst="line">
            <a:avLst/>
          </a:prstGeom>
          <a:ln w="12700">
            <a:solidFill>
              <a:srgbClr val="B8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1520" y="4297680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EA580C"/>
                </a:solidFill>
                <a:latin typeface="맑은 고딕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325112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34E4A"/>
                </a:solidFill>
                <a:latin typeface="맑은 고딕"/>
              </a:rPr>
              <a:t>백엔드 및 DB 구성 (ERD)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20" y="4919472"/>
            <a:ext cx="9875520" cy="0"/>
          </a:xfrm>
          <a:prstGeom prst="line">
            <a:avLst/>
          </a:prstGeom>
          <a:ln w="12700">
            <a:solidFill>
              <a:srgbClr val="B8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31520" y="5074920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EA580C"/>
                </a:solidFill>
                <a:latin typeface="맑은 고딕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102352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34E4A"/>
                </a:solidFill>
                <a:latin typeface="맑은 고딕"/>
              </a:rPr>
              <a:t>서비스 이용 시연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31520" y="5696712"/>
            <a:ext cx="9875520" cy="0"/>
          </a:xfrm>
          <a:prstGeom prst="line">
            <a:avLst/>
          </a:prstGeom>
          <a:ln w="12700">
            <a:solidFill>
              <a:srgbClr val="B8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92608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A580C"/>
                </a:solidFill>
                <a:latin typeface="맑은 고딕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2918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134E4A"/>
                </a:solidFill>
                <a:latin typeface="맑은 고딕"/>
              </a:rPr>
              <a:t>서비스 소개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4206240"/>
            <a:ext cx="2194560" cy="0"/>
          </a:xfrm>
          <a:prstGeom prst="line">
            <a:avLst/>
          </a:prstGeom>
          <a:ln w="1905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4415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EA580C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A580C"/>
                </a:solidFill>
                <a:latin typeface="맑은 고딕"/>
              </a:rPr>
              <a:t>SERVICE INTRO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4E4A"/>
                </a:solidFill>
                <a:latin typeface="맑은 고딕"/>
              </a:rPr>
              <a:t>기획 배경 및 타겟 사용자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554480"/>
            <a:ext cx="10881360" cy="0"/>
          </a:xfrm>
          <a:prstGeom prst="line">
            <a:avLst/>
          </a:prstGeom>
          <a:ln w="15875">
            <a:solidFill>
              <a:srgbClr val="B8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4415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EA580C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A580C"/>
                </a:solidFill>
                <a:latin typeface="맑은 고딕"/>
              </a:rPr>
              <a:t>SERVICE INTRO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4E4A"/>
                </a:solidFill>
                <a:latin typeface="맑은 고딕"/>
              </a:rPr>
              <a:t>핵심 기능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554480"/>
            <a:ext cx="10881360" cy="0"/>
          </a:xfrm>
          <a:prstGeom prst="line">
            <a:avLst/>
          </a:prstGeom>
          <a:ln w="15875">
            <a:solidFill>
              <a:srgbClr val="B8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4415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EA580C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92608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A580C"/>
                </a:solidFill>
                <a:latin typeface="맑은 고딕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2918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134E4A"/>
                </a:solidFill>
                <a:latin typeface="맑은 고딕"/>
              </a:rPr>
              <a:t>서비스 구현 범위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4206240"/>
            <a:ext cx="2194560" cy="0"/>
          </a:xfrm>
          <a:prstGeom prst="line">
            <a:avLst/>
          </a:prstGeom>
          <a:ln w="1905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4415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EA580C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A580C"/>
                </a:solidFill>
                <a:latin typeface="맑은 고딕"/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4E4A"/>
                </a:solidFill>
                <a:latin typeface="맑은 고딕"/>
              </a:rPr>
              <a:t>기능 명세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554480"/>
            <a:ext cx="10881360" cy="0"/>
          </a:xfrm>
          <a:prstGeom prst="line">
            <a:avLst/>
          </a:prstGeom>
          <a:ln w="15875">
            <a:solidFill>
              <a:srgbClr val="B8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4415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EA580C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92608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A580C"/>
                </a:solidFill>
                <a:latin typeface="맑은 고딕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2918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134E4A"/>
                </a:solidFill>
                <a:latin typeface="맑은 고딕"/>
              </a:rPr>
              <a:t>서비스 UI 및 레퍼런스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4206240"/>
            <a:ext cx="2194560" cy="0"/>
          </a:xfrm>
          <a:prstGeom prst="line">
            <a:avLst/>
          </a:prstGeom>
          <a:ln w="1905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4415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EA580C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A580C"/>
                </a:solidFill>
                <a:latin typeface="맑은 고딕"/>
              </a:rPr>
              <a:t>USER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4E4A"/>
                </a:solidFill>
                <a:latin typeface="맑은 고딕"/>
              </a:rPr>
              <a:t>사용자 플로우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554480"/>
            <a:ext cx="10881360" cy="0"/>
          </a:xfrm>
          <a:prstGeom prst="line">
            <a:avLst/>
          </a:prstGeom>
          <a:ln w="15875">
            <a:solidFill>
              <a:srgbClr val="B8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4415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EA580C"/>
                </a:solidFill>
                <a:latin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A580C"/>
                </a:solidFill>
                <a:latin typeface="맑은 고딕"/>
              </a:rP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4E4A"/>
                </a:solidFill>
                <a:latin typeface="맑은 고딕"/>
              </a:rPr>
              <a:t>디자인 레퍼런스 및 스타일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554480"/>
            <a:ext cx="10881360" cy="0"/>
          </a:xfrm>
          <a:prstGeom prst="line">
            <a:avLst/>
          </a:prstGeom>
          <a:ln w="15875">
            <a:solidFill>
              <a:srgbClr val="B8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4415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EA580C"/>
                </a:solidFill>
                <a:latin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92608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A580C"/>
                </a:solidFill>
                <a:latin typeface="맑은 고딕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2918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134E4A"/>
                </a:solidFill>
                <a:latin typeface="맑은 고딕"/>
              </a:rPr>
              <a:t>백엔드 및 DB 구성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4206240"/>
            <a:ext cx="2194560" cy="0"/>
          </a:xfrm>
          <a:prstGeom prst="line">
            <a:avLst/>
          </a:prstGeom>
          <a:ln w="1905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4415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EA580C"/>
                </a:solidFill>
                <a:latin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A580C"/>
                </a:solidFill>
                <a:latin typeface="맑은 고딕"/>
              </a:rPr>
              <a:t>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4E4A"/>
                </a:solidFill>
                <a:latin typeface="맑은 고딕"/>
              </a:rPr>
              <a:t>ERD 다이어그램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554480"/>
            <a:ext cx="10881360" cy="0"/>
          </a:xfrm>
          <a:prstGeom prst="line">
            <a:avLst/>
          </a:prstGeom>
          <a:ln w="15875">
            <a:solidFill>
              <a:srgbClr val="B8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4415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EA580C"/>
                </a:solidFill>
                <a:latin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A580C"/>
                </a:solidFill>
                <a:latin typeface="맑은 고딕"/>
              </a:rP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4E4A"/>
                </a:solidFill>
                <a:latin typeface="맑은 고딕"/>
              </a:rPr>
              <a:t>기술 스택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554480"/>
            <a:ext cx="10881360" cy="0"/>
          </a:xfrm>
          <a:prstGeom prst="line">
            <a:avLst/>
          </a:prstGeom>
          <a:ln w="15875">
            <a:solidFill>
              <a:srgbClr val="B8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4415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EA580C"/>
                </a:solidFill>
                <a:latin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92608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A580C"/>
                </a:solidFill>
                <a:latin typeface="맑은 고딕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2918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134E4A"/>
                </a:solidFill>
                <a:latin typeface="맑은 고딕"/>
              </a:rPr>
              <a:t>서비스 이용 시연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4206240"/>
            <a:ext cx="2194560" cy="0"/>
          </a:xfrm>
          <a:prstGeom prst="line">
            <a:avLst/>
          </a:prstGeom>
          <a:ln w="1905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4415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EA580C"/>
                </a:solidFill>
                <a:latin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A580C"/>
                </a:solidFill>
                <a:latin typeface="맑은 고딕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4E4A"/>
                </a:solidFill>
                <a:latin typeface="맑은 고딕"/>
              </a:rPr>
              <a:t>이용 시연 시나리오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554480"/>
            <a:ext cx="10881360" cy="0"/>
          </a:xfrm>
          <a:prstGeom prst="line">
            <a:avLst/>
          </a:prstGeom>
          <a:ln w="15875">
            <a:solidFill>
              <a:srgbClr val="B8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4415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EA580C"/>
                </a:solidFill>
                <a:latin typeface="맑은 고딕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